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4" r:id="rId5"/>
    <p:sldId id="263" r:id="rId6"/>
    <p:sldId id="272" r:id="rId7"/>
    <p:sldId id="280" r:id="rId8"/>
    <p:sldId id="281" r:id="rId9"/>
    <p:sldId id="282" r:id="rId10"/>
    <p:sldId id="283" r:id="rId11"/>
    <p:sldId id="288" r:id="rId12"/>
    <p:sldId id="296" r:id="rId13"/>
    <p:sldId id="284" r:id="rId14"/>
    <p:sldId id="289" r:id="rId15"/>
    <p:sldId id="290" r:id="rId16"/>
    <p:sldId id="291" r:id="rId17"/>
    <p:sldId id="292" r:id="rId18"/>
    <p:sldId id="293" r:id="rId19"/>
    <p:sldId id="294" r:id="rId20"/>
    <p:sldId id="295" r:id="rId21"/>
    <p:sldId id="285" r:id="rId22"/>
    <p:sldId id="286" r:id="rId23"/>
    <p:sldId id="28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3AB5"/>
    <a:srgbClr val="FADAEC"/>
    <a:srgbClr val="CE56C0"/>
    <a:srgbClr val="99FF33"/>
    <a:srgbClr val="E4AEDE"/>
    <a:srgbClr val="FDD1FE"/>
    <a:srgbClr val="E781D1"/>
    <a:srgbClr val="FFFFCC"/>
    <a:srgbClr val="AF33A0"/>
    <a:srgbClr val="E38D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3" autoAdjust="0"/>
    <p:restoredTop sz="94660"/>
  </p:normalViewPr>
  <p:slideViewPr>
    <p:cSldViewPr snapToGrid="0">
      <p:cViewPr varScale="1">
        <p:scale>
          <a:sx n="74" d="100"/>
          <a:sy n="74" d="100"/>
        </p:scale>
        <p:origin x="4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5BB54EE-DF0D-4FA1-B48F-C292469C25C4}" type="datetimeFigureOut">
              <a:rPr lang="en-US" smtClean="0"/>
              <a:t>3/22/22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905636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B54EE-DF0D-4FA1-B48F-C292469C25C4}" type="datetimeFigureOut">
              <a:rPr lang="en-US" smtClean="0"/>
              <a:t>3/22/22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4107749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BB54EE-DF0D-4FA1-B48F-C292469C25C4}" type="datetimeFigureOut">
              <a:rPr lang="en-US" smtClean="0"/>
              <a:t>3/22/22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358170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BB54EE-DF0D-4FA1-B48F-C292469C25C4}" type="datetimeFigureOut">
              <a:rPr lang="en-US" smtClean="0"/>
              <a:t>3/22/22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1934561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BB54EE-DF0D-4FA1-B48F-C292469C25C4}" type="datetimeFigureOut">
              <a:rPr lang="en-US" smtClean="0"/>
              <a:t>3/22/22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2922307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BB54EE-DF0D-4FA1-B48F-C292469C25C4}" type="datetimeFigureOut">
              <a:rPr lang="en-US" smtClean="0"/>
              <a:t>3/22/22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1095030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B54EE-DF0D-4FA1-B48F-C292469C25C4}" type="datetimeFigureOut">
              <a:rPr lang="en-US" smtClean="0"/>
              <a:t>3/22/22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3215593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BB54EE-DF0D-4FA1-B48F-C292469C25C4}" type="datetimeFigureOut">
              <a:rPr lang="en-US" smtClean="0"/>
              <a:t>3/22/22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2810518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BB54EE-DF0D-4FA1-B48F-C292469C25C4}" type="datetimeFigureOut">
              <a:rPr lang="en-US" smtClean="0"/>
              <a:t>3/22/22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1805427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B54EE-DF0D-4FA1-B48F-C292469C25C4}" type="datetimeFigureOut">
              <a:rPr lang="en-US" smtClean="0"/>
              <a:t>3/22/22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3495067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B54EE-DF0D-4FA1-B48F-C292469C25C4}" type="datetimeFigureOut">
              <a:rPr lang="en-US" smtClean="0"/>
              <a:t>3/22/22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20112-F681-4D23-BAD6-386DBC2EFDE9}" type="slidenum">
              <a:rPr lang="en-US" smtClean="0"/>
              <a:t>‹#›</a:t>
            </a:fld>
            <a:endParaRPr lang="en-US"/>
          </a:p>
        </p:txBody>
      </p:sp>
    </p:spTree>
    <p:extLst>
      <p:ext uri="{BB962C8B-B14F-4D97-AF65-F5344CB8AC3E}">
        <p14:creationId xmlns:p14="http://schemas.microsoft.com/office/powerpoint/2010/main" val="1104229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BB54EE-DF0D-4FA1-B48F-C292469C25C4}" type="datetimeFigureOut">
              <a:rPr lang="en-US" smtClean="0"/>
              <a:t>3/22/22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F20112-F681-4D23-BAD6-386DBC2EFDE9}" type="slidenum">
              <a:rPr lang="en-US" smtClean="0"/>
              <a:t>‹#›</a:t>
            </a:fld>
            <a:endParaRPr lang="en-US"/>
          </a:p>
        </p:txBody>
      </p:sp>
    </p:spTree>
    <p:extLst>
      <p:ext uri="{BB962C8B-B14F-4D97-AF65-F5344CB8AC3E}">
        <p14:creationId xmlns:p14="http://schemas.microsoft.com/office/powerpoint/2010/main" val="4280765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p:cNvSpPr/>
          <p:nvPr/>
        </p:nvSpPr>
        <p:spPr>
          <a:xfrm>
            <a:off x="7353836" y="1571223"/>
            <a:ext cx="4468969" cy="4752304"/>
          </a:xfrm>
          <a:prstGeom prst="roundRect">
            <a:avLst/>
          </a:prstGeom>
          <a:solidFill>
            <a:srgbClr val="FFFFCC"/>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ar-BH" sz="2600" b="1" dirty="0">
                <a:solidFill>
                  <a:srgbClr val="FF0000"/>
                </a:solidFill>
                <a:latin typeface="Sakkal Majalla" panose="02000000000000000000" pitchFamily="2" charset="-78"/>
              </a:rPr>
              <a:t>مادة التربية للمواطنة وحقوق الإنسان</a:t>
            </a:r>
            <a:endParaRPr lang="en-US" sz="2600" b="1" dirty="0">
              <a:solidFill>
                <a:srgbClr val="FF0000"/>
              </a:solidFill>
              <a:latin typeface="Sakkal Majalla" panose="02000000000000000000" pitchFamily="2" charset="-78"/>
            </a:endParaRPr>
          </a:p>
          <a:p>
            <a:pPr algn="ctr" rtl="1"/>
            <a:r>
              <a:rPr lang="ar-BH" sz="2600" b="1" dirty="0">
                <a:solidFill>
                  <a:srgbClr val="FF0000"/>
                </a:solidFill>
                <a:latin typeface="Sakkal Majalla" panose="02000000000000000000" pitchFamily="2" charset="-78"/>
                <a:cs typeface="+mj-cs"/>
              </a:rPr>
              <a:t>وطن201</a:t>
            </a:r>
          </a:p>
          <a:p>
            <a:pPr algn="ctr" rtl="1"/>
            <a:r>
              <a:rPr lang="ar-BH" sz="2600" b="1" dirty="0">
                <a:solidFill>
                  <a:schemeClr val="tx1"/>
                </a:solidFill>
                <a:latin typeface="Sakkal Majalla" panose="02000000000000000000" pitchFamily="2" charset="-78"/>
                <a:cs typeface="+mj-cs"/>
              </a:rPr>
              <a:t> </a:t>
            </a:r>
            <a:r>
              <a:rPr lang="ar-BH" sz="2600" b="1" dirty="0">
                <a:solidFill>
                  <a:srgbClr val="FF0000"/>
                </a:solidFill>
                <a:latin typeface="Sakkal Majalla" panose="02000000000000000000" pitchFamily="2" charset="-78"/>
                <a:cs typeface="+mj-cs"/>
              </a:rPr>
              <a:t>الصف الحادي عشر</a:t>
            </a:r>
            <a:endParaRPr lang="en-US" sz="2600" b="1" dirty="0">
              <a:solidFill>
                <a:srgbClr val="FF0000"/>
              </a:solidFill>
              <a:latin typeface="Sakkal Majalla" panose="02000000000000000000" pitchFamily="2" charset="-78"/>
              <a:cs typeface="+mj-cs"/>
            </a:endParaRPr>
          </a:p>
          <a:p>
            <a:pPr algn="ctr" rtl="1"/>
            <a:r>
              <a:rPr lang="ar-BH" sz="2600" b="1" dirty="0">
                <a:solidFill>
                  <a:schemeClr val="tx1"/>
                </a:solidFill>
                <a:latin typeface="Sakkal Majalla" panose="02000000000000000000" pitchFamily="2" charset="-78"/>
                <a:cs typeface="+mj-cs"/>
              </a:rPr>
              <a:t>(الفصل الدراسي الأول)</a:t>
            </a:r>
          </a:p>
          <a:p>
            <a:pPr algn="ctr" rtl="1"/>
            <a:r>
              <a:rPr lang="ar-BH" sz="2600" b="1" dirty="0">
                <a:solidFill>
                  <a:schemeClr val="tx1"/>
                </a:solidFill>
                <a:latin typeface="Sakkal Majalla" panose="02000000000000000000" pitchFamily="2" charset="-78"/>
                <a:cs typeface="+mj-cs"/>
              </a:rPr>
              <a:t>مدار الاهتمام الثاني</a:t>
            </a:r>
          </a:p>
          <a:p>
            <a:pPr algn="ctr" rtl="1"/>
            <a:r>
              <a:rPr lang="ar-BH" sz="2600" b="1" dirty="0">
                <a:solidFill>
                  <a:srgbClr val="FF0000"/>
                </a:solidFill>
                <a:latin typeface="Sakkal Majalla" panose="02000000000000000000" pitchFamily="2" charset="-78"/>
                <a:cs typeface="+mj-cs"/>
              </a:rPr>
              <a:t>الدرس الخامس: البعد الاجتماعي للمواطنة في مملكة البحرين (1):قضايا الشباب نموذجًا</a:t>
            </a:r>
          </a:p>
          <a:p>
            <a:pPr algn="ctr" rtl="1"/>
            <a:r>
              <a:rPr lang="ar-BH" sz="2600" b="1" dirty="0">
                <a:solidFill>
                  <a:schemeClr val="tx1"/>
                </a:solidFill>
                <a:latin typeface="Sakkal Majalla" panose="02000000000000000000" pitchFamily="2" charset="-78"/>
                <a:cs typeface="+mj-cs"/>
              </a:rPr>
              <a:t>(الصفحات من 62 إلى 72 )</a:t>
            </a:r>
            <a:endParaRPr lang="en-US" sz="2600" b="1" dirty="0">
              <a:solidFill>
                <a:schemeClr val="tx1"/>
              </a:solidFill>
              <a:latin typeface="Sakkal Majalla" panose="02000000000000000000" pitchFamily="2" charset="-78"/>
              <a:cs typeface="+mj-cs"/>
            </a:endParaRPr>
          </a:p>
        </p:txBody>
      </p:sp>
      <p:pic>
        <p:nvPicPr>
          <p:cNvPr id="4" name="صورة 3">
            <a:extLst>
              <a:ext uri="{FF2B5EF4-FFF2-40B4-BE49-F238E27FC236}">
                <a16:creationId xmlns:a16="http://schemas.microsoft.com/office/drawing/2014/main" id="{21FD3DDB-D363-48D9-A020-B257D2846C8A}"/>
              </a:ext>
            </a:extLst>
          </p:cNvPr>
          <p:cNvPicPr>
            <a:picLocks noChangeAspect="1"/>
          </p:cNvPicPr>
          <p:nvPr/>
        </p:nvPicPr>
        <p:blipFill>
          <a:blip r:embed="rId3"/>
          <a:stretch>
            <a:fillRect/>
          </a:stretch>
        </p:blipFill>
        <p:spPr>
          <a:xfrm>
            <a:off x="5228823" y="2056687"/>
            <a:ext cx="1941537" cy="378137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789" y="2056687"/>
            <a:ext cx="4916558" cy="3781375"/>
          </a:xfrm>
          <a:prstGeom prst="rect">
            <a:avLst/>
          </a:prstGeom>
        </p:spPr>
      </p:pic>
    </p:spTree>
    <p:extLst>
      <p:ext uri="{BB962C8B-B14F-4D97-AF65-F5344CB8AC3E}">
        <p14:creationId xmlns:p14="http://schemas.microsoft.com/office/powerpoint/2010/main" val="421722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heel(1)">
                                      <p:cBhvr>
                                        <p:cTn id="2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مستطيل: زوايا مستديرة 4">
            <a:extLst>
              <a:ext uri="{FF2B5EF4-FFF2-40B4-BE49-F238E27FC236}">
                <a16:creationId xmlns:a16="http://schemas.microsoft.com/office/drawing/2014/main" id="{03EB3642-C411-420C-8F27-3D2130E035ED}"/>
              </a:ext>
            </a:extLst>
          </p:cNvPr>
          <p:cNvSpPr/>
          <p:nvPr/>
        </p:nvSpPr>
        <p:spPr>
          <a:xfrm>
            <a:off x="4623510" y="167961"/>
            <a:ext cx="3609162" cy="980661"/>
          </a:xfrm>
          <a:prstGeom prst="roundRect">
            <a:avLst/>
          </a:prstGeom>
          <a:solidFill>
            <a:schemeClr val="accent4">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tlCol="0" anchor="ctr"/>
          <a:lstStyle/>
          <a:p>
            <a:pPr algn="ctr"/>
            <a:r>
              <a:rPr lang="ar-BH" sz="4400" b="1" dirty="0">
                <a:latin typeface="Sakkal Majalla" panose="02000000000000000000" pitchFamily="2" charset="-78"/>
                <a:cs typeface="Sakkal Majalla" panose="02000000000000000000" pitchFamily="2" charset="-78"/>
              </a:rPr>
              <a:t>أهداف الدرس</a:t>
            </a:r>
            <a:endParaRPr lang="en-US" sz="4400" b="1" dirty="0">
              <a:latin typeface="Sakkal Majalla" panose="02000000000000000000" pitchFamily="2" charset="-78"/>
              <a:cs typeface="Sakkal Majalla" panose="02000000000000000000" pitchFamily="2" charset="-78"/>
            </a:endParaRPr>
          </a:p>
        </p:txBody>
      </p:sp>
      <p:sp>
        <p:nvSpPr>
          <p:cNvPr id="8" name="مستطيل 6">
            <a:extLst>
              <a:ext uri="{FF2B5EF4-FFF2-40B4-BE49-F238E27FC236}">
                <a16:creationId xmlns:a16="http://schemas.microsoft.com/office/drawing/2014/main" id="{08B25958-FB96-4329-9207-5207919AE353}"/>
              </a:ext>
            </a:extLst>
          </p:cNvPr>
          <p:cNvSpPr/>
          <p:nvPr/>
        </p:nvSpPr>
        <p:spPr>
          <a:xfrm>
            <a:off x="-2147" y="194495"/>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9" name="Rounded Rectangle 8"/>
          <p:cNvSpPr/>
          <p:nvPr/>
        </p:nvSpPr>
        <p:spPr>
          <a:xfrm>
            <a:off x="5795493" y="1867017"/>
            <a:ext cx="5447763" cy="772732"/>
          </a:xfrm>
          <a:prstGeom prst="round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r" rtl="1"/>
            <a:r>
              <a:rPr lang="ar-BH" sz="2800" b="1" dirty="0"/>
              <a:t> </a:t>
            </a:r>
            <a:r>
              <a:rPr lang="ar-BH" sz="3200" b="1" dirty="0">
                <a:latin typeface="Sakkal Majalla" panose="02000000000000000000" pitchFamily="2" charset="-78"/>
                <a:cs typeface="Sakkal Majalla" panose="02000000000000000000" pitchFamily="2" charset="-78"/>
              </a:rPr>
              <a:t>يستنتج خصائص مرحلة الشباب</a:t>
            </a:r>
            <a:endParaRPr lang="en-US" sz="2800" dirty="0">
              <a:latin typeface="Sakkal Majalla" panose="02000000000000000000" pitchFamily="2" charset="-78"/>
              <a:cs typeface="Sakkal Majalla" panose="02000000000000000000" pitchFamily="2" charset="-78"/>
            </a:endParaRPr>
          </a:p>
        </p:txBody>
      </p:sp>
      <p:sp>
        <p:nvSpPr>
          <p:cNvPr id="10" name="Rounded Rectangle 9"/>
          <p:cNvSpPr/>
          <p:nvPr/>
        </p:nvSpPr>
        <p:spPr>
          <a:xfrm>
            <a:off x="5795493" y="3546504"/>
            <a:ext cx="5447763" cy="796086"/>
          </a:xfrm>
          <a:prstGeom prst="round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lvl="0" algn="r" rtl="1"/>
            <a:r>
              <a:rPr lang="ar-BH" sz="2800" b="1" dirty="0"/>
              <a:t> </a:t>
            </a:r>
            <a:r>
              <a:rPr lang="ar-BH" sz="3200" b="1" dirty="0">
                <a:latin typeface="Sakkal Majalla" panose="02000000000000000000" pitchFamily="2" charset="-78"/>
                <a:cs typeface="Sakkal Majalla" panose="02000000000000000000" pitchFamily="2" charset="-78"/>
              </a:rPr>
              <a:t>يتعرّف قضايا الشباب في العالم</a:t>
            </a:r>
            <a:endParaRPr lang="en-US" sz="3200" dirty="0">
              <a:latin typeface="Sakkal Majalla" panose="02000000000000000000" pitchFamily="2" charset="-78"/>
              <a:cs typeface="Sakkal Majalla" panose="02000000000000000000" pitchFamily="2" charset="-78"/>
            </a:endParaRPr>
          </a:p>
        </p:txBody>
      </p:sp>
      <p:sp>
        <p:nvSpPr>
          <p:cNvPr id="11" name="Rounded Rectangle 10"/>
          <p:cNvSpPr/>
          <p:nvPr/>
        </p:nvSpPr>
        <p:spPr>
          <a:xfrm>
            <a:off x="5795493" y="5249345"/>
            <a:ext cx="5447763" cy="901520"/>
          </a:xfrm>
          <a:prstGeom prst="round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lvl="0" algn="r" rtl="1"/>
            <a:r>
              <a:rPr lang="ar-BH" sz="3200" b="1" dirty="0">
                <a:latin typeface="Sakkal Majalla" panose="02000000000000000000" pitchFamily="2" charset="-78"/>
                <a:cs typeface="Sakkal Majalla" panose="02000000000000000000" pitchFamily="2" charset="-78"/>
              </a:rPr>
              <a:t>يثمّن دور مملكة البحرين في رعاية الشباب </a:t>
            </a:r>
            <a:endParaRPr lang="en-US" sz="32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8910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646276" y="95883"/>
            <a:ext cx="2337513" cy="744943"/>
          </a:xfrm>
          <a:prstGeom prst="roundRect">
            <a:avLst/>
          </a:prstGeom>
          <a:solidFill>
            <a:schemeClr val="accent4">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5"/>
          </a:lnRef>
          <a:fillRef idx="2">
            <a:schemeClr val="accent5"/>
          </a:fillRef>
          <a:effectRef idx="1">
            <a:schemeClr val="accent5"/>
          </a:effectRef>
          <a:fontRef idx="minor">
            <a:schemeClr val="dk1"/>
          </a:fontRef>
        </p:style>
        <p:txBody>
          <a:bodyPr rtlCol="0" anchor="ctr"/>
          <a:lstStyle/>
          <a:p>
            <a:pPr algn="ctr"/>
            <a:r>
              <a:rPr lang="ar-BH" sz="4000" b="1" dirty="0">
                <a:solidFill>
                  <a:schemeClr val="accent2">
                    <a:lumMod val="50000"/>
                  </a:schemeClr>
                </a:solidFill>
                <a:latin typeface="Sakkal Majalla" panose="02000000000000000000" pitchFamily="2" charset="-78"/>
                <a:cs typeface="Sakkal Majalla" panose="02000000000000000000" pitchFamily="2" charset="-78"/>
              </a:rPr>
              <a:t>المقدمة:</a:t>
            </a:r>
            <a:endParaRPr lang="en-US" sz="4000" b="1" dirty="0">
              <a:solidFill>
                <a:schemeClr val="accent2">
                  <a:lumMod val="50000"/>
                </a:schemeClr>
              </a:solidFill>
              <a:latin typeface="Sakkal Majalla" panose="02000000000000000000" pitchFamily="2" charset="-78"/>
              <a:cs typeface="Sakkal Majalla" panose="02000000000000000000" pitchFamily="2" charset="-78"/>
            </a:endParaRPr>
          </a:p>
        </p:txBody>
      </p:sp>
      <p:sp>
        <p:nvSpPr>
          <p:cNvPr id="11" name="مستطيل 6">
            <a:extLst>
              <a:ext uri="{FF2B5EF4-FFF2-40B4-BE49-F238E27FC236}">
                <a16:creationId xmlns:a16="http://schemas.microsoft.com/office/drawing/2014/main" id="{08B25958-FB96-4329-9207-5207919AE353}"/>
              </a:ext>
            </a:extLst>
          </p:cNvPr>
          <p:cNvSpPr/>
          <p:nvPr/>
        </p:nvSpPr>
        <p:spPr>
          <a:xfrm>
            <a:off x="100884" y="194495"/>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7" name="Rounded Rectangle 6"/>
          <p:cNvSpPr/>
          <p:nvPr/>
        </p:nvSpPr>
        <p:spPr>
          <a:xfrm>
            <a:off x="7547018" y="1812220"/>
            <a:ext cx="4082602" cy="2172965"/>
          </a:xfrm>
          <a:prstGeom prst="round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lvl="0" algn="ctr" rtl="1"/>
            <a:r>
              <a:rPr lang="ar-BH" sz="2400" b="1" dirty="0">
                <a:solidFill>
                  <a:srgbClr val="FF0000"/>
                </a:solidFill>
                <a:latin typeface="Sakkal Majalla" panose="02000000000000000000" pitchFamily="2" charset="-78"/>
                <a:cs typeface="Sakkal Majalla" panose="02000000000000000000" pitchFamily="2" charset="-78"/>
              </a:rPr>
              <a:t>مرحلة الشباب</a:t>
            </a:r>
            <a:endParaRPr lang="ar-BH" sz="2400" dirty="0">
              <a:solidFill>
                <a:srgbClr val="FF0000"/>
              </a:solidFill>
              <a:latin typeface="Sakkal Majalla" panose="02000000000000000000" pitchFamily="2" charset="-78"/>
              <a:cs typeface="Sakkal Majalla" panose="02000000000000000000" pitchFamily="2" charset="-78"/>
            </a:endParaRPr>
          </a:p>
          <a:p>
            <a:pPr lvl="0" algn="justLow" rtl="1"/>
            <a:r>
              <a:rPr lang="ar-BH" sz="2400" b="1" dirty="0">
                <a:latin typeface="Sakkal Majalla" panose="02000000000000000000" pitchFamily="2" charset="-78"/>
                <a:cs typeface="Sakkal Majalla" panose="02000000000000000000" pitchFamily="2" charset="-78"/>
              </a:rPr>
              <a:t>هي مرحلة عمريّة حسّاسة (تتراوح بين 15 – 24 سنة حسب تعريف الأمم المتّحدة)؛ وقد تصل لــ 35 سنة نظراً لاختلاف الفروقات الفرديّة، والثقافيّة بين المجتمعات.</a:t>
            </a:r>
            <a:endParaRPr lang="en-US" sz="2400" b="1" dirty="0">
              <a:latin typeface="Sakkal Majalla" panose="02000000000000000000" pitchFamily="2" charset="-78"/>
              <a:cs typeface="Sakkal Majalla" panose="02000000000000000000" pitchFamily="2" charset="-78"/>
            </a:endParaRPr>
          </a:p>
        </p:txBody>
      </p:sp>
      <p:sp>
        <p:nvSpPr>
          <p:cNvPr id="8" name="Rounded Rectangle 7"/>
          <p:cNvSpPr/>
          <p:nvPr/>
        </p:nvSpPr>
        <p:spPr>
          <a:xfrm>
            <a:off x="7547018" y="4134711"/>
            <a:ext cx="4082602" cy="2227452"/>
          </a:xfrm>
          <a:prstGeom prst="round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r" rtl="1"/>
            <a:endParaRPr lang="ar-BH" sz="2000" b="1" dirty="0"/>
          </a:p>
          <a:p>
            <a:pPr algn="ctr" rtl="1"/>
            <a:r>
              <a:rPr lang="ar-BH" sz="2400" b="1" dirty="0">
                <a:solidFill>
                  <a:srgbClr val="FF0000"/>
                </a:solidFill>
                <a:latin typeface="Sakkal Majalla" panose="02000000000000000000" pitchFamily="2" charset="-78"/>
                <a:cs typeface="Sakkal Majalla" panose="02000000000000000000" pitchFamily="2" charset="-78"/>
              </a:rPr>
              <a:t>تتميّز مرحلة الشباب بالخصائص الآتية:</a:t>
            </a:r>
          </a:p>
          <a:p>
            <a:pPr marL="342900" lvl="0" indent="-342900" algn="r" rtl="1">
              <a:buFont typeface="Wingdings" panose="05000000000000000000" pitchFamily="2" charset="2"/>
              <a:buChar char="v"/>
            </a:pPr>
            <a:r>
              <a:rPr lang="ar-BH" sz="2400" b="1" dirty="0">
                <a:latin typeface="Sakkal Majalla" panose="02000000000000000000" pitchFamily="2" charset="-78"/>
                <a:cs typeface="Sakkal Majalla" panose="02000000000000000000" pitchFamily="2" charset="-78"/>
              </a:rPr>
              <a:t>القوّة والحيويّة والحماسة والطموح.</a:t>
            </a:r>
            <a:endParaRPr lang="en-US" sz="2400" b="1" dirty="0">
              <a:latin typeface="Sakkal Majalla" panose="02000000000000000000" pitchFamily="2" charset="-78"/>
              <a:cs typeface="Sakkal Majalla" panose="02000000000000000000" pitchFamily="2" charset="-78"/>
            </a:endParaRPr>
          </a:p>
          <a:p>
            <a:pPr marL="342900" lvl="0" indent="-342900" algn="r" rtl="1">
              <a:buFont typeface="Wingdings" panose="05000000000000000000" pitchFamily="2" charset="2"/>
              <a:buChar char="v"/>
            </a:pPr>
            <a:r>
              <a:rPr lang="ar-BH" sz="2400" b="1" dirty="0">
                <a:latin typeface="Sakkal Majalla" panose="02000000000000000000" pitchFamily="2" charset="-78"/>
                <a:cs typeface="Sakkal Majalla" panose="02000000000000000000" pitchFamily="2" charset="-78"/>
              </a:rPr>
              <a:t>حب الاستكشاف والتجريب والتميُّز. </a:t>
            </a:r>
          </a:p>
          <a:p>
            <a:pPr marL="342900" lvl="0" indent="-342900" algn="r" rtl="1">
              <a:buFont typeface="Wingdings" panose="05000000000000000000" pitchFamily="2" charset="2"/>
              <a:buChar char="v"/>
            </a:pPr>
            <a:r>
              <a:rPr lang="ar-BH" sz="2400" b="1" dirty="0">
                <a:latin typeface="Sakkal Majalla" panose="02000000000000000000" pitchFamily="2" charset="-78"/>
                <a:cs typeface="Sakkal Majalla" panose="02000000000000000000" pitchFamily="2" charset="-78"/>
              </a:rPr>
              <a:t>نزعة الاستقلاليّة والاعتماد على الذات.</a:t>
            </a:r>
          </a:p>
          <a:p>
            <a:pPr marL="342900" lvl="0" indent="-342900" algn="r" rtl="1">
              <a:buFont typeface="Wingdings" panose="05000000000000000000" pitchFamily="2" charset="2"/>
              <a:buChar char="v"/>
            </a:pPr>
            <a:r>
              <a:rPr lang="ar-BH" sz="2400" b="1" dirty="0">
                <a:latin typeface="Sakkal Majalla" panose="02000000000000000000" pitchFamily="2" charset="-78"/>
                <a:cs typeface="Sakkal Majalla" panose="02000000000000000000" pitchFamily="2" charset="-78"/>
              </a:rPr>
              <a:t> تذبذب الانفعالات.</a:t>
            </a:r>
            <a:endParaRPr lang="en-US" sz="2400" b="1" dirty="0">
              <a:latin typeface="Sakkal Majalla" panose="02000000000000000000" pitchFamily="2" charset="-78"/>
              <a:cs typeface="Sakkal Majalla" panose="02000000000000000000" pitchFamily="2" charset="-78"/>
            </a:endParaRPr>
          </a:p>
          <a:p>
            <a:pPr algn="r" rtl="1"/>
            <a:endParaRPr lang="en-US" sz="2000" dirty="0"/>
          </a:p>
        </p:txBody>
      </p:sp>
      <p:sp>
        <p:nvSpPr>
          <p:cNvPr id="9" name="Rounded Rectangle 8"/>
          <p:cNvSpPr/>
          <p:nvPr/>
        </p:nvSpPr>
        <p:spPr>
          <a:xfrm>
            <a:off x="777025" y="1812220"/>
            <a:ext cx="6117465" cy="2232242"/>
          </a:xfrm>
          <a:prstGeom prst="round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400" b="1" dirty="0">
                <a:solidFill>
                  <a:srgbClr val="FF0000"/>
                </a:solidFill>
                <a:latin typeface="Sakkal Majalla" panose="02000000000000000000" pitchFamily="2" charset="-78"/>
                <a:cs typeface="Sakkal Majalla" panose="02000000000000000000" pitchFamily="2" charset="-78"/>
              </a:rPr>
              <a:t>قضايا الشباب في العالم:</a:t>
            </a:r>
            <a:endParaRPr lang="ar-BH" sz="2400" dirty="0">
              <a:solidFill>
                <a:srgbClr val="FF0000"/>
              </a:solidFill>
              <a:latin typeface="Sakkal Majalla" panose="02000000000000000000" pitchFamily="2" charset="-78"/>
              <a:cs typeface="Sakkal Majalla" panose="02000000000000000000" pitchFamily="2" charset="-78"/>
            </a:endParaRPr>
          </a:p>
          <a:p>
            <a:pPr algn="justLow" rtl="1"/>
            <a:r>
              <a:rPr lang="ar-BH" sz="2400" b="1" dirty="0">
                <a:latin typeface="Sakkal Majalla" panose="02000000000000000000" pitchFamily="2" charset="-78"/>
                <a:cs typeface="Sakkal Majalla" panose="02000000000000000000" pitchFamily="2" charset="-78"/>
              </a:rPr>
              <a:t>الاهتمامات الكبرى التي تشغل بال الشباب، وتتعلّق بتكوين مصيرهم ومستقبلهم؛ وهي قضايا التمكين الذاتي، والثقافي، والاقتصادي، والاجتماعي مثل: (الصحّة، التعليم، الوظيفة، الزواج، الأسرة، العلاقات الاجتماعيّة)، والتي بدون تلبيتها يتعرّضون لجملة من المشاكل.</a:t>
            </a:r>
            <a:endParaRPr lang="en-US" sz="2400" b="1" dirty="0">
              <a:latin typeface="Sakkal Majalla" panose="02000000000000000000" pitchFamily="2" charset="-78"/>
              <a:cs typeface="Sakkal Majalla" panose="02000000000000000000" pitchFamily="2" charset="-78"/>
            </a:endParaRPr>
          </a:p>
        </p:txBody>
      </p:sp>
      <p:sp>
        <p:nvSpPr>
          <p:cNvPr id="18" name="Rounded Rectangle 17"/>
          <p:cNvSpPr/>
          <p:nvPr/>
        </p:nvSpPr>
        <p:spPr>
          <a:xfrm>
            <a:off x="781315" y="4228760"/>
            <a:ext cx="6117465" cy="1996226"/>
          </a:xfrm>
          <a:prstGeom prst="round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solidFill>
                  <a:srgbClr val="FF0000"/>
                </a:solidFill>
                <a:latin typeface="Sakkal Majalla" panose="02000000000000000000" pitchFamily="2" charset="-78"/>
                <a:cs typeface="Sakkal Majalla" panose="02000000000000000000" pitchFamily="2" charset="-78"/>
              </a:rPr>
              <a:t>معالجة قضايا الشباب (مملكة البحرين نموذجٍا):</a:t>
            </a:r>
          </a:p>
          <a:p>
            <a:pPr algn="ctr"/>
            <a:r>
              <a:rPr lang="ar-BH" sz="2400" b="1" dirty="0">
                <a:solidFill>
                  <a:schemeClr val="accent6">
                    <a:lumMod val="50000"/>
                  </a:schemeClr>
                </a:solidFill>
                <a:latin typeface="Sakkal Majalla" panose="02000000000000000000" pitchFamily="2" charset="-78"/>
                <a:cs typeface="Sakkal Majalla" panose="02000000000000000000" pitchFamily="2" charset="-78"/>
              </a:rPr>
              <a:t>عبر:</a:t>
            </a:r>
          </a:p>
          <a:p>
            <a:pPr marL="342900" lvl="0" indent="-342900" algn="r" rtl="1">
              <a:buFont typeface="Wingdings" panose="05000000000000000000" pitchFamily="2" charset="2"/>
              <a:buChar char="v"/>
            </a:pPr>
            <a:r>
              <a:rPr lang="ar-BH" sz="2400" b="1" dirty="0">
                <a:latin typeface="Sakkal Majalla" panose="02000000000000000000" pitchFamily="2" charset="-78"/>
                <a:cs typeface="Sakkal Majalla" panose="02000000000000000000" pitchFamily="2" charset="-78"/>
              </a:rPr>
              <a:t>التحصين الذاتي والمجتمعي. </a:t>
            </a:r>
            <a:endParaRPr lang="en-US" sz="2400" b="1" dirty="0">
              <a:latin typeface="Sakkal Majalla" panose="02000000000000000000" pitchFamily="2" charset="-78"/>
              <a:cs typeface="Sakkal Majalla" panose="02000000000000000000" pitchFamily="2" charset="-78"/>
            </a:endParaRPr>
          </a:p>
          <a:p>
            <a:pPr marL="342900" lvl="0" indent="-342900" algn="r" rtl="1">
              <a:buFont typeface="Wingdings" panose="05000000000000000000" pitchFamily="2" charset="2"/>
              <a:buChar char="v"/>
            </a:pPr>
            <a:r>
              <a:rPr lang="ar-BH" sz="2400" b="1" dirty="0">
                <a:latin typeface="Sakkal Majalla" panose="02000000000000000000" pitchFamily="2" charset="-78"/>
                <a:cs typeface="Sakkal Majalla" panose="02000000000000000000" pitchFamily="2" charset="-78"/>
              </a:rPr>
              <a:t>رعاية الدولة. </a:t>
            </a:r>
            <a:endParaRPr lang="en-US" sz="2400" b="1" dirty="0">
              <a:latin typeface="Sakkal Majalla" panose="02000000000000000000" pitchFamily="2" charset="-78"/>
              <a:cs typeface="Sakkal Majalla" panose="02000000000000000000" pitchFamily="2" charset="-78"/>
            </a:endParaRPr>
          </a:p>
          <a:p>
            <a:pPr algn="ctr"/>
            <a:endParaRPr lang="en-US" sz="2000" dirty="0"/>
          </a:p>
        </p:txBody>
      </p:sp>
      <p:sp>
        <p:nvSpPr>
          <p:cNvPr id="19" name="Rectangle 18"/>
          <p:cNvSpPr/>
          <p:nvPr/>
        </p:nvSpPr>
        <p:spPr>
          <a:xfrm>
            <a:off x="3835757" y="1043187"/>
            <a:ext cx="5117203" cy="566672"/>
          </a:xfrm>
          <a:prstGeom prst="rect">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800" b="1" dirty="0">
                <a:latin typeface="Sakkal Majalla" panose="02000000000000000000" pitchFamily="2" charset="-78"/>
                <a:cs typeface="Sakkal Majalla" panose="02000000000000000000" pitchFamily="2" charset="-78"/>
              </a:rPr>
              <a:t>ملامح أساسيّة عن مرحلة الشباب وقضاياهم:</a:t>
            </a:r>
            <a:endParaRPr lang="en-US" sz="28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132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circle(in)">
                                      <p:cBhvr>
                                        <p:cTn id="15" dur="20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100813" y="194494"/>
            <a:ext cx="3773511" cy="646331"/>
          </a:xfrm>
          <a:prstGeom prst="roundRect">
            <a:avLst/>
          </a:prstGeom>
          <a:solidFill>
            <a:schemeClr val="accent4">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BH" sz="2800" b="1" dirty="0">
                <a:solidFill>
                  <a:schemeClr val="tx1"/>
                </a:solidFill>
                <a:latin typeface="Sakkal Majalla" panose="02000000000000000000" pitchFamily="2" charset="-78"/>
                <a:cs typeface="Sakkal Majalla" panose="02000000000000000000" pitchFamily="2" charset="-78"/>
              </a:rPr>
              <a:t>أولا: قضايا الشباب في العالم:</a:t>
            </a:r>
            <a:endParaRPr lang="en-US" sz="2800" dirty="0">
              <a:solidFill>
                <a:schemeClr val="tx1"/>
              </a:solidFill>
              <a:latin typeface="Sakkal Majalla" panose="02000000000000000000" pitchFamily="2" charset="-78"/>
              <a:cs typeface="Sakkal Majalla" panose="02000000000000000000" pitchFamily="2" charset="-78"/>
            </a:endParaRPr>
          </a:p>
        </p:txBody>
      </p:sp>
      <p:sp>
        <p:nvSpPr>
          <p:cNvPr id="12" name="مستطيل 6">
            <a:extLst>
              <a:ext uri="{FF2B5EF4-FFF2-40B4-BE49-F238E27FC236}">
                <a16:creationId xmlns:a16="http://schemas.microsoft.com/office/drawing/2014/main" id="{08B25958-FB96-4329-9207-5207919AE353}"/>
              </a:ext>
            </a:extLst>
          </p:cNvPr>
          <p:cNvSpPr/>
          <p:nvPr/>
        </p:nvSpPr>
        <p:spPr>
          <a:xfrm>
            <a:off x="-2147" y="194495"/>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2" name="Rectangle 1"/>
          <p:cNvSpPr/>
          <p:nvPr/>
        </p:nvSpPr>
        <p:spPr>
          <a:xfrm>
            <a:off x="8435664" y="1487954"/>
            <a:ext cx="3438660" cy="636612"/>
          </a:xfrm>
          <a:prstGeom prst="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400" b="1" dirty="0">
                <a:latin typeface="Sakkal Majalla" panose="02000000000000000000" pitchFamily="2" charset="-78"/>
                <a:cs typeface="Sakkal Majalla" panose="02000000000000000000" pitchFamily="2" charset="-78"/>
              </a:rPr>
              <a:t>الاهتمامات والطموحات</a:t>
            </a:r>
            <a:endParaRPr lang="en-US" sz="2400" b="1" dirty="0">
              <a:latin typeface="Sakkal Majalla" panose="02000000000000000000" pitchFamily="2" charset="-78"/>
              <a:cs typeface="Sakkal Majalla" panose="02000000000000000000" pitchFamily="2" charset="-78"/>
            </a:endParaRPr>
          </a:p>
        </p:txBody>
      </p:sp>
      <p:sp>
        <p:nvSpPr>
          <p:cNvPr id="3" name="Rounded Rectangle 2"/>
          <p:cNvSpPr/>
          <p:nvPr/>
        </p:nvSpPr>
        <p:spPr>
          <a:xfrm>
            <a:off x="206062" y="1178414"/>
            <a:ext cx="8113690" cy="1152661"/>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justLow" rtl="1"/>
            <a:r>
              <a:rPr lang="ar-BH" sz="2000" b="1" dirty="0">
                <a:latin typeface="Sakkal Majalla" panose="02000000000000000000" pitchFamily="2" charset="-78"/>
                <a:cs typeface="Sakkal Majalla" panose="02000000000000000000" pitchFamily="2" charset="-78"/>
              </a:rPr>
              <a:t>يشترك شباب كل العالم في نفس الاهتمامات والطموحات، والتي تكون متنوعة لتشمل النجاح في مختلف المجالات: (الاجتماعية: الاستقرار، النجاح المهني، الاندماج،... العلميّة والثقافيّة: الابداع والابتكار، التمكن من المعارف العلمية،... التنموية: المشاركة في تطوير مجتمعاتهم،...)</a:t>
            </a:r>
            <a:endParaRPr lang="en-US" sz="2000" b="1" dirty="0">
              <a:latin typeface="Sakkal Majalla" panose="02000000000000000000" pitchFamily="2" charset="-78"/>
              <a:cs typeface="Sakkal Majalla" panose="02000000000000000000" pitchFamily="2" charset="-78"/>
            </a:endParaRPr>
          </a:p>
        </p:txBody>
      </p:sp>
      <p:sp>
        <p:nvSpPr>
          <p:cNvPr id="13" name="Rectangle 12"/>
          <p:cNvSpPr/>
          <p:nvPr/>
        </p:nvSpPr>
        <p:spPr>
          <a:xfrm>
            <a:off x="8461421" y="4066022"/>
            <a:ext cx="3438660" cy="827468"/>
          </a:xfrm>
          <a:prstGeom prst="rect">
            <a:avLst/>
          </a:prstGeom>
          <a:solidFill>
            <a:srgbClr val="FADAEC"/>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تباين واقع الشباب بين دول العالم:</a:t>
            </a:r>
            <a:endParaRPr lang="en-US" sz="2400" b="1" dirty="0">
              <a:latin typeface="Sakkal Majalla" panose="02000000000000000000" pitchFamily="2" charset="-78"/>
              <a:cs typeface="Sakkal Majalla" panose="02000000000000000000" pitchFamily="2" charset="-78"/>
            </a:endParaRPr>
          </a:p>
        </p:txBody>
      </p:sp>
      <p:sp>
        <p:nvSpPr>
          <p:cNvPr id="14" name="Right Brace 13"/>
          <p:cNvSpPr/>
          <p:nvPr/>
        </p:nvSpPr>
        <p:spPr>
          <a:xfrm>
            <a:off x="7508383" y="2771696"/>
            <a:ext cx="811369" cy="3397284"/>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5" name="Rounded Rectangle 14"/>
          <p:cNvSpPr/>
          <p:nvPr/>
        </p:nvSpPr>
        <p:spPr>
          <a:xfrm>
            <a:off x="772731" y="2553647"/>
            <a:ext cx="6413679" cy="531735"/>
          </a:xfrm>
          <a:prstGeom prst="roundRect">
            <a:avLst/>
          </a:prstGeom>
          <a:solidFill>
            <a:srgbClr val="92D050"/>
          </a:solidFill>
        </p:spPr>
        <p:style>
          <a:lnRef idx="2">
            <a:schemeClr val="dk1"/>
          </a:lnRef>
          <a:fillRef idx="1">
            <a:schemeClr val="lt1"/>
          </a:fillRef>
          <a:effectRef idx="0">
            <a:schemeClr val="dk1"/>
          </a:effectRef>
          <a:fontRef idx="minor">
            <a:schemeClr val="dk1"/>
          </a:fontRef>
        </p:style>
        <p:txBody>
          <a:bodyPr rtlCol="0" anchor="ctr"/>
          <a:lstStyle/>
          <a:p>
            <a:pPr algn="justLow" rtl="1"/>
            <a:endParaRPr lang="ar-BH" sz="2000" b="1" dirty="0"/>
          </a:p>
          <a:p>
            <a:pPr algn="justLow" rtl="1"/>
            <a:r>
              <a:rPr lang="ar-BH" sz="2000" b="1" dirty="0">
                <a:latin typeface="Sakkal Majalla" panose="02000000000000000000" pitchFamily="2" charset="-78"/>
                <a:cs typeface="Sakkal Majalla" panose="02000000000000000000" pitchFamily="2" charset="-78"/>
              </a:rPr>
              <a:t>واقع الشباب في العالم: يختلف باختلاف واقع مجتمعاتهم، يمكن تصنيفه إلى: </a:t>
            </a:r>
            <a:endParaRPr lang="en-US" sz="2000" b="1" dirty="0">
              <a:latin typeface="Sakkal Majalla" panose="02000000000000000000" pitchFamily="2" charset="-78"/>
              <a:cs typeface="Sakkal Majalla" panose="02000000000000000000" pitchFamily="2" charset="-78"/>
            </a:endParaRPr>
          </a:p>
          <a:p>
            <a:pPr algn="justLow" rtl="1"/>
            <a:r>
              <a:rPr lang="ar-BH" sz="2000" b="1" dirty="0"/>
              <a:t> </a:t>
            </a:r>
            <a:endParaRPr lang="en-US" sz="2000" b="1" dirty="0"/>
          </a:p>
        </p:txBody>
      </p:sp>
      <p:sp>
        <p:nvSpPr>
          <p:cNvPr id="16" name="Rounded Rectangle 15"/>
          <p:cNvSpPr/>
          <p:nvPr/>
        </p:nvSpPr>
        <p:spPr>
          <a:xfrm>
            <a:off x="4456090" y="3307954"/>
            <a:ext cx="2936381" cy="785612"/>
          </a:xfrm>
          <a:prstGeom prst="roundRect">
            <a:avLst/>
          </a:prstGeom>
          <a:solidFill>
            <a:srgbClr val="92D050"/>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000" b="1" dirty="0">
                <a:latin typeface="Sakkal Majalla" panose="02000000000000000000" pitchFamily="2" charset="-78"/>
                <a:cs typeface="Sakkal Majalla" panose="02000000000000000000" pitchFamily="2" charset="-78"/>
              </a:rPr>
              <a:t>الصنف الأول/ المعرقل: يشمل شباب البلدان المتخلّفة والفقيرة. </a:t>
            </a:r>
            <a:endParaRPr lang="en-US" sz="2000" b="1" dirty="0">
              <a:latin typeface="Sakkal Majalla" panose="02000000000000000000" pitchFamily="2" charset="-78"/>
              <a:cs typeface="Sakkal Majalla" panose="02000000000000000000" pitchFamily="2" charset="-78"/>
            </a:endParaRPr>
          </a:p>
        </p:txBody>
      </p:sp>
      <p:sp>
        <p:nvSpPr>
          <p:cNvPr id="18" name="Rounded Rectangle 17"/>
          <p:cNvSpPr/>
          <p:nvPr/>
        </p:nvSpPr>
        <p:spPr>
          <a:xfrm>
            <a:off x="461493" y="3307954"/>
            <a:ext cx="2923502" cy="785612"/>
          </a:xfrm>
          <a:prstGeom prst="roundRect">
            <a:avLst/>
          </a:prstGeom>
          <a:solidFill>
            <a:srgbClr val="92D050"/>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000" b="1" dirty="0">
                <a:latin typeface="Sakkal Majalla" panose="02000000000000000000" pitchFamily="2" charset="-78"/>
                <a:cs typeface="Sakkal Majalla" panose="02000000000000000000" pitchFamily="2" charset="-78"/>
              </a:rPr>
              <a:t>الصنف الثاني/ المُمكّن: يشمل شباب البلدان المتقدمة والغنية. </a:t>
            </a:r>
            <a:endParaRPr lang="en-US" sz="2000" b="1" dirty="0">
              <a:latin typeface="Sakkal Majalla" panose="02000000000000000000" pitchFamily="2" charset="-78"/>
              <a:cs typeface="Sakkal Majalla" panose="02000000000000000000" pitchFamily="2" charset="-78"/>
            </a:endParaRPr>
          </a:p>
        </p:txBody>
      </p:sp>
      <p:sp>
        <p:nvSpPr>
          <p:cNvPr id="19" name="Rounded Rectangle 18"/>
          <p:cNvSpPr/>
          <p:nvPr/>
        </p:nvSpPr>
        <p:spPr>
          <a:xfrm>
            <a:off x="759850" y="4198444"/>
            <a:ext cx="6426560" cy="531735"/>
          </a:xfrm>
          <a:prstGeom prst="roundRect">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آثار هذا التباين في الشباب:</a:t>
            </a:r>
            <a:endParaRPr lang="en-US" sz="2400" b="1" dirty="0">
              <a:latin typeface="Sakkal Majalla" panose="02000000000000000000" pitchFamily="2" charset="-78"/>
              <a:cs typeface="Sakkal Majalla" panose="02000000000000000000" pitchFamily="2" charset="-78"/>
            </a:endParaRPr>
          </a:p>
        </p:txBody>
      </p:sp>
      <p:sp>
        <p:nvSpPr>
          <p:cNvPr id="20" name="Rounded Rectangle 19"/>
          <p:cNvSpPr/>
          <p:nvPr/>
        </p:nvSpPr>
        <p:spPr>
          <a:xfrm>
            <a:off x="4355208" y="4873694"/>
            <a:ext cx="3037263" cy="1282406"/>
          </a:xfrm>
          <a:prstGeom prst="roundRect">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000" b="1" dirty="0">
                <a:latin typeface="Sakkal Majalla" panose="02000000000000000000" pitchFamily="2" charset="-78"/>
                <a:cs typeface="Sakkal Majalla" panose="02000000000000000000" pitchFamily="2" charset="-78"/>
              </a:rPr>
              <a:t>في البلدان المتخلفة:</a:t>
            </a:r>
          </a:p>
          <a:p>
            <a:pPr algn="justLow" rtl="1"/>
            <a:r>
              <a:rPr lang="ar-BH" b="1" dirty="0">
                <a:latin typeface="Sakkal Majalla" panose="02000000000000000000" pitchFamily="2" charset="-78"/>
                <a:cs typeface="Sakkal Majalla" panose="02000000000000000000" pitchFamily="2" charset="-78"/>
              </a:rPr>
              <a:t>تراكم العراقيل، فالفقر والجوع، والعنف، تشكل عوائق أمام الشاب للابتكار والإبداع.</a:t>
            </a:r>
            <a:endParaRPr lang="en-US" b="1" dirty="0">
              <a:latin typeface="Sakkal Majalla" panose="02000000000000000000" pitchFamily="2" charset="-78"/>
              <a:cs typeface="Sakkal Majalla" panose="02000000000000000000" pitchFamily="2" charset="-78"/>
            </a:endParaRPr>
          </a:p>
        </p:txBody>
      </p:sp>
      <p:sp>
        <p:nvSpPr>
          <p:cNvPr id="21" name="Rounded Rectangle 20"/>
          <p:cNvSpPr/>
          <p:nvPr/>
        </p:nvSpPr>
        <p:spPr>
          <a:xfrm>
            <a:off x="461493" y="4886573"/>
            <a:ext cx="2923502" cy="1282406"/>
          </a:xfrm>
          <a:prstGeom prst="roundRect">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000" b="1" dirty="0">
                <a:latin typeface="Sakkal Majalla" panose="02000000000000000000" pitchFamily="2" charset="-78"/>
                <a:cs typeface="Sakkal Majalla" panose="02000000000000000000" pitchFamily="2" charset="-78"/>
              </a:rPr>
              <a:t>في البلدان المتقدمة:</a:t>
            </a:r>
          </a:p>
          <a:p>
            <a:pPr algn="justLow" rtl="1"/>
            <a:r>
              <a:rPr lang="ar-BH" sz="2000" dirty="0">
                <a:latin typeface="Sakkal Majalla" panose="02000000000000000000" pitchFamily="2" charset="-78"/>
                <a:cs typeface="Sakkal Majalla" panose="02000000000000000000" pitchFamily="2" charset="-78"/>
              </a:rPr>
              <a:t>توفر فرص التمكين في مختلف المجالات... ليكون الشاب فاعلا، مشاركًا في الشأن العام.</a:t>
            </a:r>
          </a:p>
        </p:txBody>
      </p:sp>
      <p:sp>
        <p:nvSpPr>
          <p:cNvPr id="5" name="Rectangle 4"/>
          <p:cNvSpPr/>
          <p:nvPr/>
        </p:nvSpPr>
        <p:spPr>
          <a:xfrm>
            <a:off x="4133045" y="327249"/>
            <a:ext cx="3683358" cy="532484"/>
          </a:xfrm>
          <a:prstGeom prst="rect">
            <a:avLst/>
          </a:prstGeom>
          <a:solidFill>
            <a:srgbClr val="E781D1"/>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t>1</a:t>
            </a:r>
            <a:r>
              <a:rPr lang="ar-BH" sz="2400" b="1" dirty="0">
                <a:latin typeface="Sakkal Majalla" panose="02000000000000000000" pitchFamily="2" charset="-78"/>
                <a:cs typeface="Sakkal Majalla" panose="02000000000000000000" pitchFamily="2" charset="-78"/>
              </a:rPr>
              <a:t>.ما يتعلق بالطاقات الشبابية:</a:t>
            </a:r>
          </a:p>
        </p:txBody>
      </p:sp>
    </p:spTree>
    <p:extLst>
      <p:ext uri="{BB962C8B-B14F-4D97-AF65-F5344CB8AC3E}">
        <p14:creationId xmlns:p14="http://schemas.microsoft.com/office/powerpoint/2010/main" val="385445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5"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0"/>
                                        <p:tgtEl>
                                          <p:spTgt spid="14"/>
                                        </p:tgtEl>
                                      </p:cBhvr>
                                    </p:animEffect>
                                    <p:anim calcmode="lin" valueType="num">
                                      <p:cBhvr>
                                        <p:cTn id="41" dur="2000" fill="hold"/>
                                        <p:tgtEl>
                                          <p:spTgt spid="14"/>
                                        </p:tgtEl>
                                        <p:attrNameLst>
                                          <p:attrName>ppt_w</p:attrName>
                                        </p:attrNameLst>
                                      </p:cBhvr>
                                      <p:tavLst>
                                        <p:tav tm="0" fmla="#ppt_w*sin(2.5*pi*$)">
                                          <p:val>
                                            <p:fltVal val="0"/>
                                          </p:val>
                                        </p:tav>
                                        <p:tav tm="100000">
                                          <p:val>
                                            <p:fltVal val="1"/>
                                          </p:val>
                                        </p:tav>
                                      </p:tavLst>
                                    </p:anim>
                                    <p:anim calcmode="lin" valueType="num">
                                      <p:cBhvr>
                                        <p:cTn id="42"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45"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2000"/>
                                        <p:tgtEl>
                                          <p:spTgt spid="15"/>
                                        </p:tgtEl>
                                      </p:cBhvr>
                                    </p:animEffect>
                                    <p:anim calcmode="lin" valueType="num">
                                      <p:cBhvr>
                                        <p:cTn id="48" dur="2000" fill="hold"/>
                                        <p:tgtEl>
                                          <p:spTgt spid="15"/>
                                        </p:tgtEl>
                                        <p:attrNameLst>
                                          <p:attrName>ppt_w</p:attrName>
                                        </p:attrNameLst>
                                      </p:cBhvr>
                                      <p:tavLst>
                                        <p:tav tm="0" fmla="#ppt_w*sin(2.5*pi*$)">
                                          <p:val>
                                            <p:fltVal val="0"/>
                                          </p:val>
                                        </p:tav>
                                        <p:tav tm="100000">
                                          <p:val>
                                            <p:fltVal val="1"/>
                                          </p:val>
                                        </p:tav>
                                      </p:tavLst>
                                    </p:anim>
                                    <p:anim calcmode="lin" valueType="num">
                                      <p:cBhvr>
                                        <p:cTn id="49" dur="2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1000"/>
                                        <p:tgtEl>
                                          <p:spTgt spid="16"/>
                                        </p:tgtEl>
                                      </p:cBhvr>
                                    </p:animEffect>
                                    <p:anim calcmode="lin" valueType="num">
                                      <p:cBhvr>
                                        <p:cTn id="55" dur="1000" fill="hold"/>
                                        <p:tgtEl>
                                          <p:spTgt spid="16"/>
                                        </p:tgtEl>
                                        <p:attrNameLst>
                                          <p:attrName>ppt_x</p:attrName>
                                        </p:attrNameLst>
                                      </p:cBhvr>
                                      <p:tavLst>
                                        <p:tav tm="0">
                                          <p:val>
                                            <p:strVal val="#ppt_x"/>
                                          </p:val>
                                        </p:tav>
                                        <p:tav tm="100000">
                                          <p:val>
                                            <p:strVal val="#ppt_x"/>
                                          </p:val>
                                        </p:tav>
                                      </p:tavLst>
                                    </p:anim>
                                    <p:anim calcmode="lin" valueType="num">
                                      <p:cBhvr>
                                        <p:cTn id="5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1000"/>
                                        <p:tgtEl>
                                          <p:spTgt spid="18"/>
                                        </p:tgtEl>
                                      </p:cBhvr>
                                    </p:animEffect>
                                    <p:anim calcmode="lin" valueType="num">
                                      <p:cBhvr>
                                        <p:cTn id="62" dur="1000" fill="hold"/>
                                        <p:tgtEl>
                                          <p:spTgt spid="18"/>
                                        </p:tgtEl>
                                        <p:attrNameLst>
                                          <p:attrName>ppt_x</p:attrName>
                                        </p:attrNameLst>
                                      </p:cBhvr>
                                      <p:tavLst>
                                        <p:tav tm="0">
                                          <p:val>
                                            <p:strVal val="#ppt_x"/>
                                          </p:val>
                                        </p:tav>
                                        <p:tav tm="100000">
                                          <p:val>
                                            <p:strVal val="#ppt_x"/>
                                          </p:val>
                                        </p:tav>
                                      </p:tavLst>
                                    </p:anim>
                                    <p:anim calcmode="lin" valueType="num">
                                      <p:cBhvr>
                                        <p:cTn id="6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5" presetClass="entr" presetSubtype="0"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2000"/>
                                        <p:tgtEl>
                                          <p:spTgt spid="19"/>
                                        </p:tgtEl>
                                      </p:cBhvr>
                                    </p:animEffect>
                                    <p:anim calcmode="lin" valueType="num">
                                      <p:cBhvr>
                                        <p:cTn id="69" dur="2000" fill="hold"/>
                                        <p:tgtEl>
                                          <p:spTgt spid="19"/>
                                        </p:tgtEl>
                                        <p:attrNameLst>
                                          <p:attrName>ppt_w</p:attrName>
                                        </p:attrNameLst>
                                      </p:cBhvr>
                                      <p:tavLst>
                                        <p:tav tm="0" fmla="#ppt_w*sin(2.5*pi*$)">
                                          <p:val>
                                            <p:fltVal val="0"/>
                                          </p:val>
                                        </p:tav>
                                        <p:tav tm="100000">
                                          <p:val>
                                            <p:fltVal val="1"/>
                                          </p:val>
                                        </p:tav>
                                      </p:tavLst>
                                    </p:anim>
                                    <p:anim calcmode="lin" valueType="num">
                                      <p:cBhvr>
                                        <p:cTn id="70" dur="2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1000"/>
                                        <p:tgtEl>
                                          <p:spTgt spid="20"/>
                                        </p:tgtEl>
                                      </p:cBhvr>
                                    </p:animEffect>
                                    <p:anim calcmode="lin" valueType="num">
                                      <p:cBhvr>
                                        <p:cTn id="76" dur="1000" fill="hold"/>
                                        <p:tgtEl>
                                          <p:spTgt spid="20"/>
                                        </p:tgtEl>
                                        <p:attrNameLst>
                                          <p:attrName>ppt_x</p:attrName>
                                        </p:attrNameLst>
                                      </p:cBhvr>
                                      <p:tavLst>
                                        <p:tav tm="0">
                                          <p:val>
                                            <p:strVal val="#ppt_x"/>
                                          </p:val>
                                        </p:tav>
                                        <p:tav tm="100000">
                                          <p:val>
                                            <p:strVal val="#ppt_x"/>
                                          </p:val>
                                        </p:tav>
                                      </p:tavLst>
                                    </p:anim>
                                    <p:anim calcmode="lin" valueType="num">
                                      <p:cBhvr>
                                        <p:cTn id="7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1000"/>
                                        <p:tgtEl>
                                          <p:spTgt spid="21"/>
                                        </p:tgtEl>
                                      </p:cBhvr>
                                    </p:animEffect>
                                    <p:anim calcmode="lin" valueType="num">
                                      <p:cBhvr>
                                        <p:cTn id="83" dur="1000" fill="hold"/>
                                        <p:tgtEl>
                                          <p:spTgt spid="21"/>
                                        </p:tgtEl>
                                        <p:attrNameLst>
                                          <p:attrName>ppt_x</p:attrName>
                                        </p:attrNameLst>
                                      </p:cBhvr>
                                      <p:tavLst>
                                        <p:tav tm="0">
                                          <p:val>
                                            <p:strVal val="#ppt_x"/>
                                          </p:val>
                                        </p:tav>
                                        <p:tav tm="100000">
                                          <p:val>
                                            <p:strVal val="#ppt_x"/>
                                          </p:val>
                                        </p:tav>
                                      </p:tavLst>
                                    </p:anim>
                                    <p:anim calcmode="lin" valueType="num">
                                      <p:cBhvr>
                                        <p:cTn id="8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3" grpId="0" animBg="1"/>
      <p:bldP spid="13" grpId="0" animBg="1"/>
      <p:bldP spid="14" grpId="0" animBg="1"/>
      <p:bldP spid="15" grpId="0" animBg="1"/>
      <p:bldP spid="16" grpId="0" animBg="1"/>
      <p:bldP spid="18" grpId="0" animBg="1"/>
      <p:bldP spid="19" grpId="0" animBg="1"/>
      <p:bldP spid="20" grpId="0" animBg="1"/>
      <p:bldP spid="21"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مستطيل 6">
            <a:extLst>
              <a:ext uri="{FF2B5EF4-FFF2-40B4-BE49-F238E27FC236}">
                <a16:creationId xmlns:a16="http://schemas.microsoft.com/office/drawing/2014/main" id="{08B25958-FB96-4329-9207-5207919AE353}"/>
              </a:ext>
            </a:extLst>
          </p:cNvPr>
          <p:cNvSpPr/>
          <p:nvPr/>
        </p:nvSpPr>
        <p:spPr>
          <a:xfrm>
            <a:off x="100884" y="168737"/>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6" name="Rectangle 5"/>
          <p:cNvSpPr/>
          <p:nvPr/>
        </p:nvSpPr>
        <p:spPr>
          <a:xfrm>
            <a:off x="9015210" y="404196"/>
            <a:ext cx="2987899" cy="677629"/>
          </a:xfrm>
          <a:prstGeom prst="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التوظيف والمشكلات:</a:t>
            </a:r>
            <a:endParaRPr lang="en-US" sz="2400" b="1" dirty="0">
              <a:latin typeface="Sakkal Majalla" panose="02000000000000000000" pitchFamily="2" charset="-78"/>
              <a:cs typeface="Sakkal Majalla" panose="02000000000000000000" pitchFamily="2" charset="-78"/>
            </a:endParaRPr>
          </a:p>
        </p:txBody>
      </p:sp>
      <p:sp>
        <p:nvSpPr>
          <p:cNvPr id="9" name="Rounded Rectangle 8"/>
          <p:cNvSpPr/>
          <p:nvPr/>
        </p:nvSpPr>
        <p:spPr>
          <a:xfrm>
            <a:off x="1828800" y="1223492"/>
            <a:ext cx="8899301" cy="875764"/>
          </a:xfrm>
          <a:prstGeom prst="roundRect">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r"/>
            <a:r>
              <a:rPr lang="ar-BH" sz="2000" b="1" dirty="0">
                <a:latin typeface="Sakkal Majalla" panose="02000000000000000000" pitchFamily="2" charset="-78"/>
                <a:cs typeface="Sakkal Majalla" panose="02000000000000000000" pitchFamily="2" charset="-78"/>
              </a:rPr>
              <a:t>يتوجب توظيف طاقات الشباب لصالحهم، ولصالح مجتمعهم، وأوطانهم؛ عبر وسائل فاعلة؛ حماية لهم من الوقوع في مسارات خاطئة قد تعيق طموحاتهم، ويمكن أن نميز بين ثلاثة أنواع من الطاقات الشبابيّة:</a:t>
            </a:r>
            <a:endParaRPr lang="en-US" sz="2000" b="1" dirty="0">
              <a:latin typeface="Sakkal Majalla" panose="02000000000000000000" pitchFamily="2" charset="-78"/>
              <a:cs typeface="Sakkal Majalla" panose="02000000000000000000" pitchFamily="2" charset="-78"/>
            </a:endParaRPr>
          </a:p>
        </p:txBody>
      </p:sp>
      <p:graphicFrame>
        <p:nvGraphicFramePr>
          <p:cNvPr id="11" name="Table 10"/>
          <p:cNvGraphicFramePr>
            <a:graphicFrameLocks noGrp="1"/>
          </p:cNvGraphicFramePr>
          <p:nvPr>
            <p:extLst>
              <p:ext uri="{D42A27DB-BD31-4B8C-83A1-F6EECF244321}">
                <p14:modId xmlns:p14="http://schemas.microsoft.com/office/powerpoint/2010/main" val="3784940330"/>
              </p:ext>
            </p:extLst>
          </p:nvPr>
        </p:nvGraphicFramePr>
        <p:xfrm>
          <a:off x="8512936" y="2382590"/>
          <a:ext cx="3536162" cy="3818032"/>
        </p:xfrm>
        <a:graphic>
          <a:graphicData uri="http://schemas.openxmlformats.org/drawingml/2006/table">
            <a:tbl>
              <a:tblPr rtl="1" firstRow="1" firstCol="1" bandRow="1">
                <a:tableStyleId>{21E4AEA4-8DFA-4A89-87EB-49C32662AFE0}</a:tableStyleId>
              </a:tblPr>
              <a:tblGrid>
                <a:gridCol w="1348733">
                  <a:extLst>
                    <a:ext uri="{9D8B030D-6E8A-4147-A177-3AD203B41FA5}">
                      <a16:colId xmlns:a16="http://schemas.microsoft.com/office/drawing/2014/main" val="20000"/>
                    </a:ext>
                  </a:extLst>
                </a:gridCol>
                <a:gridCol w="2187429">
                  <a:extLst>
                    <a:ext uri="{9D8B030D-6E8A-4147-A177-3AD203B41FA5}">
                      <a16:colId xmlns:a16="http://schemas.microsoft.com/office/drawing/2014/main" val="20001"/>
                    </a:ext>
                  </a:extLst>
                </a:gridCol>
              </a:tblGrid>
              <a:tr h="515960">
                <a:tc gridSpan="2">
                  <a:txBody>
                    <a:bodyPr/>
                    <a:lstStyle/>
                    <a:p>
                      <a:pPr marL="342900" marR="0" lvl="0" indent="-342900" algn="ctr" rtl="1">
                        <a:lnSpc>
                          <a:spcPct val="107000"/>
                        </a:lnSpc>
                        <a:spcBef>
                          <a:spcPts val="0"/>
                        </a:spcBef>
                        <a:spcAft>
                          <a:spcPts val="0"/>
                        </a:spcAft>
                        <a:buFont typeface="+mj-lt"/>
                        <a:buAutoNum type="arabicPeriod"/>
                      </a:pPr>
                      <a:endParaRPr lang="ar-BH" sz="1200" dirty="0">
                        <a:effectLst/>
                        <a:latin typeface="Sakkal Majalla" panose="02000000000000000000" pitchFamily="2" charset="-78"/>
                        <a:cs typeface="Sakkal Majalla" panose="02000000000000000000" pitchFamily="2" charset="-78"/>
                      </a:endParaRPr>
                    </a:p>
                    <a:p>
                      <a:pPr marL="342900" marR="0" lvl="0" indent="-342900" algn="ctr" rtl="1">
                        <a:lnSpc>
                          <a:spcPct val="107000"/>
                        </a:lnSpc>
                        <a:spcBef>
                          <a:spcPts val="0"/>
                        </a:spcBef>
                        <a:spcAft>
                          <a:spcPts val="0"/>
                        </a:spcAft>
                        <a:buFont typeface="+mj-lt"/>
                        <a:buAutoNum type="arabicPeriod"/>
                      </a:pPr>
                      <a:r>
                        <a:rPr lang="ar-BH" sz="2000" dirty="0">
                          <a:effectLst/>
                          <a:latin typeface="Sakkal Majalla" panose="02000000000000000000" pitchFamily="2" charset="-78"/>
                          <a:cs typeface="Sakkal Majalla" panose="02000000000000000000" pitchFamily="2" charset="-78"/>
                        </a:rPr>
                        <a:t>الطاقات البدنيّة</a:t>
                      </a:r>
                      <a:endParaRPr lang="en-US" sz="18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802666">
                <a:tc>
                  <a:txBody>
                    <a:bodyPr/>
                    <a:lstStyle/>
                    <a:p>
                      <a:pPr marL="0" marR="0" algn="ctr" rtl="1">
                        <a:lnSpc>
                          <a:spcPct val="107000"/>
                        </a:lnSpc>
                        <a:spcBef>
                          <a:spcPts val="0"/>
                        </a:spcBef>
                        <a:spcAft>
                          <a:spcPts val="0"/>
                        </a:spcAft>
                      </a:pPr>
                      <a:endParaRPr lang="ar-BH" sz="2000" dirty="0">
                        <a:effectLst/>
                        <a:latin typeface="Sakkal Majalla" panose="02000000000000000000" pitchFamily="2" charset="-78"/>
                        <a:cs typeface="Sakkal Majalla" panose="02000000000000000000" pitchFamily="2" charset="-78"/>
                      </a:endParaRPr>
                    </a:p>
                    <a:p>
                      <a:pPr marL="0" marR="0" algn="ctr" rtl="1">
                        <a:lnSpc>
                          <a:spcPct val="107000"/>
                        </a:lnSpc>
                        <a:spcBef>
                          <a:spcPts val="0"/>
                        </a:spcBef>
                        <a:spcAft>
                          <a:spcPts val="0"/>
                        </a:spcAft>
                      </a:pPr>
                      <a:r>
                        <a:rPr lang="ar-BH" sz="2000" dirty="0">
                          <a:effectLst/>
                          <a:latin typeface="Sakkal Majalla" panose="02000000000000000000" pitchFamily="2" charset="-78"/>
                          <a:cs typeface="Sakkal Majalla" panose="02000000000000000000" pitchFamily="2" charset="-78"/>
                        </a:rPr>
                        <a:t>إهمال الطاقات</a:t>
                      </a:r>
                      <a:endParaRPr lang="en-US" sz="18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tc>
                  <a:txBody>
                    <a:bodyPr/>
                    <a:lstStyle/>
                    <a:p>
                      <a:pPr marL="0" marR="0" algn="ctr" rtl="1">
                        <a:lnSpc>
                          <a:spcPct val="107000"/>
                        </a:lnSpc>
                        <a:spcBef>
                          <a:spcPts val="0"/>
                        </a:spcBef>
                        <a:spcAft>
                          <a:spcPts val="0"/>
                        </a:spcAft>
                      </a:pPr>
                      <a:endParaRPr lang="ar-BH" sz="2000" dirty="0">
                        <a:effectLst/>
                        <a:latin typeface="Sakkal Majalla" panose="02000000000000000000" pitchFamily="2" charset="-78"/>
                        <a:cs typeface="Sakkal Majalla" panose="02000000000000000000" pitchFamily="2" charset="-78"/>
                      </a:endParaRPr>
                    </a:p>
                    <a:p>
                      <a:pPr marL="0" marR="0" algn="ctr" rtl="1">
                        <a:lnSpc>
                          <a:spcPct val="107000"/>
                        </a:lnSpc>
                        <a:spcBef>
                          <a:spcPts val="0"/>
                        </a:spcBef>
                        <a:spcAft>
                          <a:spcPts val="0"/>
                        </a:spcAft>
                      </a:pPr>
                      <a:r>
                        <a:rPr lang="ar-BH" sz="2000" b="1" dirty="0">
                          <a:effectLst/>
                          <a:latin typeface="Sakkal Majalla" panose="02000000000000000000" pitchFamily="2" charset="-78"/>
                          <a:cs typeface="Sakkal Majalla" panose="02000000000000000000" pitchFamily="2" charset="-78"/>
                        </a:rPr>
                        <a:t>التوظيف الإيجابي</a:t>
                      </a:r>
                      <a:endParaRPr lang="en-US" sz="18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extLst>
                  <a:ext uri="{0D108BD9-81ED-4DB2-BD59-A6C34878D82A}">
                    <a16:rowId xmlns:a16="http://schemas.microsoft.com/office/drawing/2014/main" val="10001"/>
                  </a:ext>
                </a:extLst>
              </a:tr>
              <a:tr h="2493523">
                <a:tc>
                  <a:txBody>
                    <a:bodyPr/>
                    <a:lstStyle/>
                    <a:p>
                      <a:pPr marL="342900" marR="0" lvl="0" indent="-342900" algn="just" rtl="1">
                        <a:lnSpc>
                          <a:spcPct val="107000"/>
                        </a:lnSpc>
                        <a:spcBef>
                          <a:spcPts val="0"/>
                        </a:spcBef>
                        <a:spcAft>
                          <a:spcPts val="0"/>
                        </a:spcAft>
                        <a:buFont typeface="Arial" panose="020B0604020202020204" pitchFamily="34" charset="0"/>
                        <a:buChar char="-"/>
                      </a:pPr>
                      <a:endParaRPr lang="ar-BH" sz="1800" dirty="0">
                        <a:effectLst/>
                        <a:latin typeface="Sakkal Majalla" panose="02000000000000000000" pitchFamily="2" charset="-78"/>
                        <a:cs typeface="Sakkal Majalla" panose="02000000000000000000" pitchFamily="2" charset="-78"/>
                      </a:endParaRPr>
                    </a:p>
                    <a:p>
                      <a:pPr marL="0" marR="0" lvl="0" indent="0" algn="just" rtl="1">
                        <a:lnSpc>
                          <a:spcPct val="107000"/>
                        </a:lnSpc>
                        <a:spcBef>
                          <a:spcPts val="0"/>
                        </a:spcBef>
                        <a:spcAft>
                          <a:spcPts val="0"/>
                        </a:spcAft>
                        <a:buFont typeface="Arial" panose="020B0604020202020204" pitchFamily="34" charset="0"/>
                        <a:buNone/>
                      </a:pPr>
                      <a:r>
                        <a:rPr lang="ar-BH" sz="1800" dirty="0">
                          <a:effectLst/>
                          <a:latin typeface="Sakkal Majalla" panose="02000000000000000000" pitchFamily="2" charset="-78"/>
                          <a:cs typeface="Sakkal Majalla" panose="02000000000000000000" pitchFamily="2" charset="-78"/>
                        </a:rPr>
                        <a:t>-الفراغ والبطالة</a:t>
                      </a:r>
                      <a:endParaRPr lang="en-US" sz="1800" dirty="0">
                        <a:effectLst/>
                        <a:latin typeface="Sakkal Majalla" panose="02000000000000000000" pitchFamily="2" charset="-78"/>
                        <a:cs typeface="Sakkal Majalla" panose="02000000000000000000" pitchFamily="2" charset="-78"/>
                      </a:endParaRPr>
                    </a:p>
                    <a:p>
                      <a:pPr marL="342900" marR="0" lvl="0" indent="-342900" algn="just" rtl="1">
                        <a:lnSpc>
                          <a:spcPct val="107000"/>
                        </a:lnSpc>
                        <a:spcBef>
                          <a:spcPts val="0"/>
                        </a:spcBef>
                        <a:spcAft>
                          <a:spcPts val="0"/>
                        </a:spcAft>
                        <a:buFont typeface="Arial" panose="020B0604020202020204" pitchFamily="34" charset="0"/>
                        <a:buChar char="-"/>
                      </a:pPr>
                      <a:r>
                        <a:rPr lang="ar-BH" sz="1800" dirty="0">
                          <a:effectLst/>
                          <a:latin typeface="Sakkal Majalla" panose="02000000000000000000" pitchFamily="2" charset="-78"/>
                          <a:cs typeface="Sakkal Majalla" panose="02000000000000000000" pitchFamily="2" charset="-78"/>
                        </a:rPr>
                        <a:t>العنف</a:t>
                      </a:r>
                    </a:p>
                    <a:p>
                      <a:pPr marL="0" marR="0" lvl="0" indent="0" algn="just" rtl="1">
                        <a:lnSpc>
                          <a:spcPct val="107000"/>
                        </a:lnSpc>
                        <a:spcBef>
                          <a:spcPts val="0"/>
                        </a:spcBef>
                        <a:spcAft>
                          <a:spcPts val="0"/>
                        </a:spcAft>
                        <a:buFont typeface="Arial" panose="020B0604020202020204" pitchFamily="34" charset="0"/>
                        <a:buNone/>
                      </a:pPr>
                      <a:r>
                        <a:rPr lang="ar-BH" sz="1800" dirty="0">
                          <a:effectLst/>
                          <a:latin typeface="Sakkal Majalla" panose="02000000000000000000" pitchFamily="2" charset="-78"/>
                          <a:cs typeface="Sakkal Majalla" panose="02000000000000000000" pitchFamily="2" charset="-78"/>
                        </a:rPr>
                        <a:t>-    أخرى</a:t>
                      </a:r>
                    </a:p>
                    <a:p>
                      <a:pPr marL="0" marR="0" lvl="0" indent="0" algn="just" rtl="1">
                        <a:lnSpc>
                          <a:spcPct val="107000"/>
                        </a:lnSpc>
                        <a:spcBef>
                          <a:spcPts val="0"/>
                        </a:spcBef>
                        <a:spcAft>
                          <a:spcPts val="0"/>
                        </a:spcAft>
                        <a:buFont typeface="Arial" panose="020B0604020202020204" pitchFamily="34" charset="0"/>
                        <a:buNone/>
                      </a:pPr>
                      <a:endParaRPr lang="en-US" sz="18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tc>
                  <a:txBody>
                    <a:bodyPr/>
                    <a:lstStyle/>
                    <a:p>
                      <a:pPr marL="0" marR="0" algn="r" rtl="1">
                        <a:lnSpc>
                          <a:spcPct val="107000"/>
                        </a:lnSpc>
                        <a:spcBef>
                          <a:spcPts val="0"/>
                        </a:spcBef>
                        <a:spcAft>
                          <a:spcPts val="0"/>
                        </a:spcAft>
                      </a:pPr>
                      <a:endParaRPr lang="ar-BH" sz="1800" dirty="0">
                        <a:effectLst/>
                        <a:latin typeface="Sakkal Majalla" panose="02000000000000000000" pitchFamily="2" charset="-78"/>
                        <a:cs typeface="Sakkal Majalla" panose="02000000000000000000" pitchFamily="2" charset="-78"/>
                      </a:endParaRPr>
                    </a:p>
                    <a:p>
                      <a:pPr marL="0" marR="0" algn="r" rtl="1">
                        <a:lnSpc>
                          <a:spcPct val="107000"/>
                        </a:lnSpc>
                        <a:spcBef>
                          <a:spcPts val="0"/>
                        </a:spcBef>
                        <a:spcAft>
                          <a:spcPts val="0"/>
                        </a:spcAft>
                      </a:pPr>
                      <a:r>
                        <a:rPr lang="ar-BH" sz="1800" baseline="0" dirty="0">
                          <a:effectLst/>
                          <a:latin typeface="Sakkal Majalla" panose="02000000000000000000" pitchFamily="2" charset="-78"/>
                          <a:cs typeface="Sakkal Majalla" panose="02000000000000000000" pitchFamily="2" charset="-78"/>
                        </a:rPr>
                        <a:t> </a:t>
                      </a:r>
                      <a:r>
                        <a:rPr lang="ar-BH" sz="2000" b="1" dirty="0">
                          <a:effectLst/>
                          <a:latin typeface="Sakkal Majalla" panose="02000000000000000000" pitchFamily="2" charset="-78"/>
                          <a:cs typeface="Sakkal Majalla" panose="02000000000000000000" pitchFamily="2" charset="-78"/>
                        </a:rPr>
                        <a:t>يمكن تفريغ هذه الطاقات عبر:</a:t>
                      </a:r>
                      <a:endParaRPr lang="en-US" sz="2000" b="1" dirty="0">
                        <a:effectLst/>
                        <a:latin typeface="Sakkal Majalla" panose="02000000000000000000" pitchFamily="2" charset="-78"/>
                        <a:cs typeface="Sakkal Majalla" panose="02000000000000000000" pitchFamily="2" charset="-78"/>
                      </a:endParaRPr>
                    </a:p>
                    <a:p>
                      <a:pPr marL="0" marR="0" algn="just" rtl="1">
                        <a:lnSpc>
                          <a:spcPct val="107000"/>
                        </a:lnSpc>
                        <a:spcBef>
                          <a:spcPts val="0"/>
                        </a:spcBef>
                        <a:spcAft>
                          <a:spcPts val="0"/>
                        </a:spcAft>
                      </a:pPr>
                      <a:r>
                        <a:rPr lang="ar-BH" sz="2000" b="1" dirty="0">
                          <a:effectLst/>
                          <a:latin typeface="Sakkal Majalla" panose="02000000000000000000" pitchFamily="2" charset="-78"/>
                          <a:cs typeface="Sakkal Majalla" panose="02000000000000000000" pitchFamily="2" charset="-78"/>
                        </a:rPr>
                        <a:t>-  الرياضة البدنيّة.</a:t>
                      </a:r>
                      <a:endParaRPr lang="en-US" sz="2000" b="1" dirty="0">
                        <a:effectLst/>
                        <a:latin typeface="Sakkal Majalla" panose="02000000000000000000" pitchFamily="2" charset="-78"/>
                        <a:cs typeface="Sakkal Majalla" panose="02000000000000000000" pitchFamily="2" charset="-78"/>
                      </a:endParaRPr>
                    </a:p>
                    <a:p>
                      <a:pPr marL="0" marR="0" algn="just" rtl="1">
                        <a:lnSpc>
                          <a:spcPct val="107000"/>
                        </a:lnSpc>
                        <a:spcBef>
                          <a:spcPts val="0"/>
                        </a:spcBef>
                        <a:spcAft>
                          <a:spcPts val="0"/>
                        </a:spcAft>
                      </a:pPr>
                      <a:r>
                        <a:rPr lang="ar-BH" sz="2000" b="1" dirty="0">
                          <a:effectLst/>
                          <a:latin typeface="Sakkal Majalla" panose="02000000000000000000" pitchFamily="2" charset="-78"/>
                          <a:cs typeface="Sakkal Majalla" panose="02000000000000000000" pitchFamily="2" charset="-78"/>
                        </a:rPr>
                        <a:t>- توظيف الشاب في مهنة تليق بكفاءته.</a:t>
                      </a:r>
                      <a:endParaRPr lang="en-US" sz="20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2566535721"/>
              </p:ext>
            </p:extLst>
          </p:nvPr>
        </p:nvGraphicFramePr>
        <p:xfrm>
          <a:off x="4288667" y="2356834"/>
          <a:ext cx="4043966" cy="3902299"/>
        </p:xfrm>
        <a:graphic>
          <a:graphicData uri="http://schemas.openxmlformats.org/drawingml/2006/table">
            <a:tbl>
              <a:tblPr rtl="1" firstRow="1" firstCol="1" bandRow="1">
                <a:tableStyleId>{93296810-A885-4BE3-A3E7-6D5BEEA58F35}</a:tableStyleId>
              </a:tblPr>
              <a:tblGrid>
                <a:gridCol w="1551699">
                  <a:extLst>
                    <a:ext uri="{9D8B030D-6E8A-4147-A177-3AD203B41FA5}">
                      <a16:colId xmlns:a16="http://schemas.microsoft.com/office/drawing/2014/main" val="20000"/>
                    </a:ext>
                  </a:extLst>
                </a:gridCol>
                <a:gridCol w="2492267">
                  <a:extLst>
                    <a:ext uri="{9D8B030D-6E8A-4147-A177-3AD203B41FA5}">
                      <a16:colId xmlns:a16="http://schemas.microsoft.com/office/drawing/2014/main" val="20001"/>
                    </a:ext>
                  </a:extLst>
                </a:gridCol>
              </a:tblGrid>
              <a:tr h="532028">
                <a:tc gridSpan="2">
                  <a:txBody>
                    <a:bodyPr/>
                    <a:lstStyle/>
                    <a:p>
                      <a:pPr marL="0" marR="0" lvl="0" indent="0" algn="ctr" rtl="1">
                        <a:lnSpc>
                          <a:spcPct val="107000"/>
                        </a:lnSpc>
                        <a:spcBef>
                          <a:spcPts val="0"/>
                        </a:spcBef>
                        <a:spcAft>
                          <a:spcPts val="0"/>
                        </a:spcAft>
                        <a:buFont typeface="+mj-lt"/>
                        <a:buNone/>
                      </a:pPr>
                      <a:r>
                        <a:rPr lang="ar-BH" sz="2000" dirty="0">
                          <a:effectLst/>
                          <a:latin typeface="Sakkal Majalla" panose="02000000000000000000" pitchFamily="2" charset="-78"/>
                          <a:cs typeface="Sakkal Majalla" panose="02000000000000000000" pitchFamily="2" charset="-78"/>
                        </a:rPr>
                        <a:t>2. الطاقات العقليّة</a:t>
                      </a:r>
                      <a:endParaRPr lang="en-US" sz="20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870840">
                <a:tc>
                  <a:txBody>
                    <a:bodyPr/>
                    <a:lstStyle/>
                    <a:p>
                      <a:pPr marL="0" marR="0" algn="ctr" rtl="1">
                        <a:lnSpc>
                          <a:spcPct val="107000"/>
                        </a:lnSpc>
                        <a:spcBef>
                          <a:spcPts val="0"/>
                        </a:spcBef>
                        <a:spcAft>
                          <a:spcPts val="0"/>
                        </a:spcAft>
                      </a:pPr>
                      <a:endParaRPr lang="ar-BH" sz="2000" dirty="0">
                        <a:effectLst/>
                        <a:latin typeface="Sakkal Majalla" panose="02000000000000000000" pitchFamily="2" charset="-78"/>
                        <a:cs typeface="Sakkal Majalla" panose="02000000000000000000" pitchFamily="2" charset="-78"/>
                      </a:endParaRPr>
                    </a:p>
                    <a:p>
                      <a:pPr marL="0" marR="0" algn="ctr" rtl="1">
                        <a:lnSpc>
                          <a:spcPct val="107000"/>
                        </a:lnSpc>
                        <a:spcBef>
                          <a:spcPts val="0"/>
                        </a:spcBef>
                        <a:spcAft>
                          <a:spcPts val="0"/>
                        </a:spcAft>
                      </a:pPr>
                      <a:r>
                        <a:rPr lang="ar-BH" sz="2000" dirty="0">
                          <a:effectLst/>
                          <a:latin typeface="Sakkal Majalla" panose="02000000000000000000" pitchFamily="2" charset="-78"/>
                          <a:cs typeface="Sakkal Majalla" panose="02000000000000000000" pitchFamily="2" charset="-78"/>
                        </a:rPr>
                        <a:t>إهمال الطاقات</a:t>
                      </a:r>
                      <a:endParaRPr lang="en-US" sz="20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tc>
                  <a:txBody>
                    <a:bodyPr/>
                    <a:lstStyle/>
                    <a:p>
                      <a:pPr marL="0" marR="0" algn="ctr" rtl="1">
                        <a:lnSpc>
                          <a:spcPct val="107000"/>
                        </a:lnSpc>
                        <a:spcBef>
                          <a:spcPts val="0"/>
                        </a:spcBef>
                        <a:spcAft>
                          <a:spcPts val="0"/>
                        </a:spcAft>
                      </a:pPr>
                      <a:endParaRPr lang="ar-BH" sz="2000" dirty="0">
                        <a:effectLst/>
                        <a:latin typeface="Sakkal Majalla" panose="02000000000000000000" pitchFamily="2" charset="-78"/>
                        <a:cs typeface="Sakkal Majalla" panose="02000000000000000000" pitchFamily="2" charset="-78"/>
                      </a:endParaRPr>
                    </a:p>
                    <a:p>
                      <a:pPr marL="0" marR="0" algn="ctr" rtl="1">
                        <a:lnSpc>
                          <a:spcPct val="107000"/>
                        </a:lnSpc>
                        <a:spcBef>
                          <a:spcPts val="0"/>
                        </a:spcBef>
                        <a:spcAft>
                          <a:spcPts val="0"/>
                        </a:spcAft>
                      </a:pPr>
                      <a:r>
                        <a:rPr lang="ar-BH" sz="2000" b="1" dirty="0">
                          <a:effectLst/>
                          <a:latin typeface="Sakkal Majalla" panose="02000000000000000000" pitchFamily="2" charset="-78"/>
                          <a:cs typeface="Sakkal Majalla" panose="02000000000000000000" pitchFamily="2" charset="-78"/>
                        </a:rPr>
                        <a:t>التوظيف الإيجابي</a:t>
                      </a:r>
                      <a:endParaRPr lang="en-US" sz="20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extLst>
                  <a:ext uri="{0D108BD9-81ED-4DB2-BD59-A6C34878D82A}">
                    <a16:rowId xmlns:a16="http://schemas.microsoft.com/office/drawing/2014/main" val="10001"/>
                  </a:ext>
                </a:extLst>
              </a:tr>
              <a:tr h="2499431">
                <a:tc>
                  <a:txBody>
                    <a:bodyPr/>
                    <a:lstStyle/>
                    <a:p>
                      <a:pPr marL="342900" marR="0" lvl="0" indent="-342900" algn="just" rtl="1">
                        <a:lnSpc>
                          <a:spcPct val="107000"/>
                        </a:lnSpc>
                        <a:spcBef>
                          <a:spcPts val="0"/>
                        </a:spcBef>
                        <a:spcAft>
                          <a:spcPts val="0"/>
                        </a:spcAft>
                        <a:buFont typeface="Arial" panose="020B0604020202020204" pitchFamily="34" charset="0"/>
                        <a:buChar char="-"/>
                      </a:pPr>
                      <a:endParaRPr lang="ar-BH" sz="1800" dirty="0">
                        <a:effectLst/>
                        <a:latin typeface="Sakkal Majalla" panose="02000000000000000000" pitchFamily="2" charset="-78"/>
                        <a:cs typeface="Sakkal Majalla" panose="02000000000000000000" pitchFamily="2" charset="-78"/>
                      </a:endParaRPr>
                    </a:p>
                    <a:p>
                      <a:pPr marL="342900" marR="0" lvl="0" indent="-342900" algn="just" rtl="1">
                        <a:lnSpc>
                          <a:spcPct val="107000"/>
                        </a:lnSpc>
                        <a:spcBef>
                          <a:spcPts val="0"/>
                        </a:spcBef>
                        <a:spcAft>
                          <a:spcPts val="0"/>
                        </a:spcAft>
                        <a:buFont typeface="Arial" panose="020B0604020202020204" pitchFamily="34" charset="0"/>
                        <a:buChar char="-"/>
                      </a:pPr>
                      <a:r>
                        <a:rPr lang="ar-BH" sz="1800" dirty="0">
                          <a:effectLst/>
                          <a:latin typeface="Sakkal Majalla" panose="02000000000000000000" pitchFamily="2" charset="-78"/>
                          <a:cs typeface="Sakkal Majalla" panose="02000000000000000000" pitchFamily="2" charset="-78"/>
                        </a:rPr>
                        <a:t>التقليد الثقافي</a:t>
                      </a:r>
                      <a:endParaRPr lang="en-US" sz="1800" dirty="0">
                        <a:effectLst/>
                        <a:latin typeface="Sakkal Majalla" panose="02000000000000000000" pitchFamily="2" charset="-78"/>
                        <a:cs typeface="Sakkal Majalla" panose="02000000000000000000" pitchFamily="2" charset="-78"/>
                      </a:endParaRPr>
                    </a:p>
                    <a:p>
                      <a:pPr marL="342900" marR="0" lvl="0" indent="-342900" algn="just" rtl="1">
                        <a:lnSpc>
                          <a:spcPct val="107000"/>
                        </a:lnSpc>
                        <a:spcBef>
                          <a:spcPts val="0"/>
                        </a:spcBef>
                        <a:spcAft>
                          <a:spcPts val="0"/>
                        </a:spcAft>
                        <a:buFont typeface="Arial" panose="020B0604020202020204" pitchFamily="34" charset="0"/>
                        <a:buChar char="-"/>
                      </a:pPr>
                      <a:r>
                        <a:rPr lang="ar-BH" sz="1800" dirty="0">
                          <a:effectLst/>
                          <a:latin typeface="Sakkal Majalla" panose="02000000000000000000" pitchFamily="2" charset="-78"/>
                          <a:cs typeface="Sakkal Majalla" panose="02000000000000000000" pitchFamily="2" charset="-78"/>
                        </a:rPr>
                        <a:t>التطرّف </a:t>
                      </a:r>
                    </a:p>
                    <a:p>
                      <a:pPr marL="342900" marR="0" lvl="0" indent="-342900" algn="just" rtl="1">
                        <a:lnSpc>
                          <a:spcPct val="107000"/>
                        </a:lnSpc>
                        <a:spcBef>
                          <a:spcPts val="0"/>
                        </a:spcBef>
                        <a:spcAft>
                          <a:spcPts val="0"/>
                        </a:spcAft>
                        <a:buFont typeface="Arial" panose="020B0604020202020204" pitchFamily="34" charset="0"/>
                        <a:buChar char="-"/>
                      </a:pPr>
                      <a:r>
                        <a:rPr lang="ar-BH" sz="1800" dirty="0">
                          <a:effectLst/>
                          <a:latin typeface="Sakkal Majalla" panose="02000000000000000000" pitchFamily="2" charset="-78"/>
                          <a:cs typeface="Sakkal Majalla" panose="02000000000000000000" pitchFamily="2" charset="-78"/>
                        </a:rPr>
                        <a:t>أخرى </a:t>
                      </a:r>
                      <a:endParaRPr lang="en-US" sz="18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tc>
                  <a:txBody>
                    <a:bodyPr/>
                    <a:lstStyle/>
                    <a:p>
                      <a:pPr marL="0" marR="0" algn="ctr" rtl="1">
                        <a:lnSpc>
                          <a:spcPct val="107000"/>
                        </a:lnSpc>
                        <a:spcBef>
                          <a:spcPts val="0"/>
                        </a:spcBef>
                        <a:spcAft>
                          <a:spcPts val="0"/>
                        </a:spcAft>
                      </a:pPr>
                      <a:endParaRPr lang="ar-BH" sz="1800" dirty="0">
                        <a:effectLst/>
                        <a:latin typeface="Sakkal Majalla" panose="02000000000000000000" pitchFamily="2" charset="-78"/>
                        <a:cs typeface="Sakkal Majalla" panose="02000000000000000000" pitchFamily="2" charset="-78"/>
                      </a:endParaRPr>
                    </a:p>
                    <a:p>
                      <a:pPr marL="0" marR="0" algn="r" rtl="1">
                        <a:lnSpc>
                          <a:spcPct val="107000"/>
                        </a:lnSpc>
                        <a:spcBef>
                          <a:spcPts val="0"/>
                        </a:spcBef>
                        <a:spcAft>
                          <a:spcPts val="0"/>
                        </a:spcAft>
                      </a:pPr>
                      <a:r>
                        <a:rPr lang="ar-BH" sz="1800" dirty="0">
                          <a:effectLst/>
                          <a:latin typeface="Sakkal Majalla" panose="02000000000000000000" pitchFamily="2" charset="-78"/>
                          <a:cs typeface="Sakkal Majalla" panose="02000000000000000000" pitchFamily="2" charset="-78"/>
                        </a:rPr>
                        <a:t> </a:t>
                      </a:r>
                      <a:r>
                        <a:rPr lang="ar-BH" sz="1800" b="1" dirty="0">
                          <a:effectLst/>
                          <a:latin typeface="Sakkal Majalla" panose="02000000000000000000" pitchFamily="2" charset="-78"/>
                          <a:cs typeface="Sakkal Majalla" panose="02000000000000000000" pitchFamily="2" charset="-78"/>
                        </a:rPr>
                        <a:t>يمكن تفريغ هذه الطاقات عبر:</a:t>
                      </a:r>
                      <a:endParaRPr lang="en-US" sz="1800" b="1" dirty="0">
                        <a:effectLst/>
                        <a:latin typeface="Sakkal Majalla" panose="02000000000000000000" pitchFamily="2" charset="-78"/>
                        <a:cs typeface="Sakkal Majalla" panose="02000000000000000000" pitchFamily="2" charset="-78"/>
                      </a:endParaRPr>
                    </a:p>
                    <a:p>
                      <a:pPr marL="0" marR="0" algn="just" rtl="1">
                        <a:lnSpc>
                          <a:spcPct val="107000"/>
                        </a:lnSpc>
                        <a:spcBef>
                          <a:spcPts val="0"/>
                        </a:spcBef>
                        <a:spcAft>
                          <a:spcPts val="0"/>
                        </a:spcAft>
                      </a:pPr>
                      <a:r>
                        <a:rPr lang="ar-BH" sz="1800" b="1" dirty="0">
                          <a:effectLst/>
                          <a:latin typeface="Sakkal Majalla" panose="02000000000000000000" pitchFamily="2" charset="-78"/>
                          <a:cs typeface="Sakkal Majalla" panose="02000000000000000000" pitchFamily="2" charset="-78"/>
                        </a:rPr>
                        <a:t>- الألعاب الذهنية.</a:t>
                      </a:r>
                      <a:endParaRPr lang="en-US" sz="1800" b="1" dirty="0">
                        <a:effectLst/>
                        <a:latin typeface="Sakkal Majalla" panose="02000000000000000000" pitchFamily="2" charset="-78"/>
                        <a:cs typeface="Sakkal Majalla" panose="02000000000000000000" pitchFamily="2" charset="-78"/>
                      </a:endParaRPr>
                    </a:p>
                    <a:p>
                      <a:pPr marL="0" marR="0" algn="just" rtl="1">
                        <a:lnSpc>
                          <a:spcPct val="107000"/>
                        </a:lnSpc>
                        <a:spcBef>
                          <a:spcPts val="0"/>
                        </a:spcBef>
                        <a:spcAft>
                          <a:spcPts val="0"/>
                        </a:spcAft>
                      </a:pPr>
                      <a:r>
                        <a:rPr lang="ar-BH" sz="1800" b="1" dirty="0">
                          <a:effectLst/>
                          <a:latin typeface="Sakkal Majalla" panose="02000000000000000000" pitchFamily="2" charset="-78"/>
                          <a:cs typeface="Sakkal Majalla" panose="02000000000000000000" pitchFamily="2" charset="-78"/>
                        </a:rPr>
                        <a:t>- الاطّلاع المعرفي والتعليم اللائق.</a:t>
                      </a:r>
                      <a:endParaRPr lang="en-US" sz="1800" b="1" dirty="0">
                        <a:effectLst/>
                        <a:latin typeface="Sakkal Majalla" panose="02000000000000000000" pitchFamily="2" charset="-78"/>
                        <a:cs typeface="Sakkal Majalla" panose="02000000000000000000" pitchFamily="2" charset="-78"/>
                      </a:endParaRPr>
                    </a:p>
                    <a:p>
                      <a:pPr marL="0" marR="0" algn="just" rtl="1">
                        <a:lnSpc>
                          <a:spcPct val="107000"/>
                        </a:lnSpc>
                        <a:spcBef>
                          <a:spcPts val="0"/>
                        </a:spcBef>
                        <a:spcAft>
                          <a:spcPts val="0"/>
                        </a:spcAft>
                      </a:pPr>
                      <a:r>
                        <a:rPr lang="ar-BH" sz="1800" b="1" dirty="0">
                          <a:effectLst/>
                          <a:latin typeface="Sakkal Majalla" panose="02000000000000000000" pitchFamily="2" charset="-78"/>
                          <a:cs typeface="Sakkal Majalla" panose="02000000000000000000" pitchFamily="2" charset="-78"/>
                        </a:rPr>
                        <a:t>- الابتكار والاختراع.</a:t>
                      </a:r>
                      <a:endParaRPr lang="en-US" sz="18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882247657"/>
              </p:ext>
            </p:extLst>
          </p:nvPr>
        </p:nvGraphicFramePr>
        <p:xfrm>
          <a:off x="244699" y="2356835"/>
          <a:ext cx="3876540" cy="3971285"/>
        </p:xfrm>
        <a:graphic>
          <a:graphicData uri="http://schemas.openxmlformats.org/drawingml/2006/table">
            <a:tbl>
              <a:tblPr rtl="1" firstRow="1" firstCol="1" bandRow="1">
                <a:tableStyleId>{74C1A8A3-306A-4EB7-A6B1-4F7E0EB9C5D6}</a:tableStyleId>
              </a:tblPr>
              <a:tblGrid>
                <a:gridCol w="1197735">
                  <a:extLst>
                    <a:ext uri="{9D8B030D-6E8A-4147-A177-3AD203B41FA5}">
                      <a16:colId xmlns:a16="http://schemas.microsoft.com/office/drawing/2014/main" val="20000"/>
                    </a:ext>
                  </a:extLst>
                </a:gridCol>
                <a:gridCol w="2678805">
                  <a:extLst>
                    <a:ext uri="{9D8B030D-6E8A-4147-A177-3AD203B41FA5}">
                      <a16:colId xmlns:a16="http://schemas.microsoft.com/office/drawing/2014/main" val="20001"/>
                    </a:ext>
                  </a:extLst>
                </a:gridCol>
              </a:tblGrid>
              <a:tr h="506806">
                <a:tc gridSpan="2">
                  <a:txBody>
                    <a:bodyPr/>
                    <a:lstStyle/>
                    <a:p>
                      <a:pPr marL="342900" marR="0" lvl="0" indent="-342900" algn="ctr" rtl="1">
                        <a:lnSpc>
                          <a:spcPct val="107000"/>
                        </a:lnSpc>
                        <a:spcBef>
                          <a:spcPts val="0"/>
                        </a:spcBef>
                        <a:spcAft>
                          <a:spcPts val="0"/>
                        </a:spcAft>
                        <a:buFont typeface="+mj-lt"/>
                        <a:buAutoNum type="arabicPeriod"/>
                      </a:pPr>
                      <a:endParaRPr lang="ar-BH" sz="1200" dirty="0">
                        <a:effectLst/>
                        <a:latin typeface="Sakkal Majalla" panose="02000000000000000000" pitchFamily="2" charset="-78"/>
                        <a:cs typeface="Sakkal Majalla" panose="02000000000000000000" pitchFamily="2" charset="-78"/>
                      </a:endParaRPr>
                    </a:p>
                    <a:p>
                      <a:pPr marL="0" marR="0" lvl="0" indent="0" algn="ctr" rtl="1">
                        <a:lnSpc>
                          <a:spcPct val="107000"/>
                        </a:lnSpc>
                        <a:spcBef>
                          <a:spcPts val="0"/>
                        </a:spcBef>
                        <a:spcAft>
                          <a:spcPts val="0"/>
                        </a:spcAft>
                        <a:buFont typeface="+mj-lt"/>
                        <a:buNone/>
                      </a:pPr>
                      <a:r>
                        <a:rPr lang="ar-BH" sz="2000" dirty="0">
                          <a:effectLst/>
                          <a:latin typeface="Sakkal Majalla" panose="02000000000000000000" pitchFamily="2" charset="-78"/>
                          <a:cs typeface="Sakkal Majalla" panose="02000000000000000000" pitchFamily="2" charset="-78"/>
                        </a:rPr>
                        <a:t>3. الطاقات الاجتماعيّة</a:t>
                      </a:r>
                      <a:endParaRPr lang="en-US" sz="2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858353">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kumimoji="0" lang="ar-BH" sz="2000" u="none" strike="noStrike" kern="1200" cap="none" spc="0" normalizeH="0" baseline="0" noProof="0" dirty="0">
                        <a:ln>
                          <a:noFill/>
                        </a:ln>
                        <a:effectLst/>
                        <a:uLnTx/>
                        <a:uFillTx/>
                        <a:latin typeface="Sakkal Majalla" panose="02000000000000000000" pitchFamily="2" charset="-78"/>
                        <a:cs typeface="Sakkal Majalla" panose="02000000000000000000" pitchFamily="2" charset="-78"/>
                      </a:endParaRPr>
                    </a:p>
                    <a:p>
                      <a:pPr marL="0" marR="0" lvl="0" indent="0" algn="ctr" defTabSz="914400" rtl="1" eaLnBrk="1" fontAlgn="auto" latinLnBrk="0" hangingPunct="1">
                        <a:lnSpc>
                          <a:spcPct val="107000"/>
                        </a:lnSpc>
                        <a:spcBef>
                          <a:spcPts val="0"/>
                        </a:spcBef>
                        <a:spcAft>
                          <a:spcPts val="0"/>
                        </a:spcAft>
                        <a:buClrTx/>
                        <a:buSzTx/>
                        <a:buFontTx/>
                        <a:buNone/>
                        <a:tabLst/>
                        <a:defRPr/>
                      </a:pPr>
                      <a:r>
                        <a:rPr kumimoji="0" lang="ar-BH" sz="2000" u="none" strike="noStrike" kern="1200" cap="none" spc="0" normalizeH="0" baseline="0" noProof="0" dirty="0">
                          <a:ln>
                            <a:noFill/>
                          </a:ln>
                          <a:effectLst/>
                          <a:uLnTx/>
                          <a:uFillTx/>
                          <a:latin typeface="Sakkal Majalla" panose="02000000000000000000" pitchFamily="2" charset="-78"/>
                          <a:cs typeface="Sakkal Majalla" panose="02000000000000000000" pitchFamily="2" charset="-78"/>
                        </a:rPr>
                        <a:t>إهمال الطاقات</a:t>
                      </a:r>
                      <a:endParaRPr kumimoji="0" lang="en-US" sz="2000" u="none" strike="noStrike" kern="1200" cap="none" spc="0" normalizeH="0" baseline="0" noProof="0" dirty="0">
                        <a:ln>
                          <a:noFill/>
                        </a:ln>
                        <a:effectLst/>
                        <a:uLnTx/>
                        <a:uFillTx/>
                        <a:latin typeface="Sakkal Majalla" panose="02000000000000000000" pitchFamily="2" charset="-78"/>
                        <a:cs typeface="Sakkal Majalla" panose="02000000000000000000" pitchFamily="2" charset="-78"/>
                      </a:endParaRPr>
                    </a:p>
                  </a:txBody>
                  <a:tcPr marL="68580" marR="68580" marT="0" marB="0"/>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kumimoji="0" lang="ar-BH" sz="2000" b="1" u="none" strike="noStrike" kern="1200" cap="none" spc="0" normalizeH="0" baseline="0" noProof="0" dirty="0">
                        <a:ln>
                          <a:noFill/>
                        </a:ln>
                        <a:effectLst/>
                        <a:uLnTx/>
                        <a:uFillTx/>
                        <a:latin typeface="Sakkal Majalla" panose="02000000000000000000" pitchFamily="2" charset="-78"/>
                        <a:cs typeface="Sakkal Majalla" panose="02000000000000000000" pitchFamily="2" charset="-78"/>
                      </a:endParaRPr>
                    </a:p>
                    <a:p>
                      <a:pPr marL="0" marR="0" lvl="0" indent="0" algn="ctr" defTabSz="914400" rtl="1" eaLnBrk="1" fontAlgn="auto" latinLnBrk="0" hangingPunct="1">
                        <a:lnSpc>
                          <a:spcPct val="107000"/>
                        </a:lnSpc>
                        <a:spcBef>
                          <a:spcPts val="0"/>
                        </a:spcBef>
                        <a:spcAft>
                          <a:spcPts val="0"/>
                        </a:spcAft>
                        <a:buClrTx/>
                        <a:buSzTx/>
                        <a:buFontTx/>
                        <a:buNone/>
                        <a:tabLst/>
                        <a:defRPr/>
                      </a:pPr>
                      <a:r>
                        <a:rPr kumimoji="0" lang="ar-BH" sz="2000" b="1" u="none" strike="noStrike" kern="1200" cap="none" spc="0" normalizeH="0" baseline="0" noProof="0" dirty="0">
                          <a:ln>
                            <a:noFill/>
                          </a:ln>
                          <a:effectLst/>
                          <a:uLnTx/>
                          <a:uFillTx/>
                          <a:latin typeface="Sakkal Majalla" panose="02000000000000000000" pitchFamily="2" charset="-78"/>
                          <a:cs typeface="Sakkal Majalla" panose="02000000000000000000" pitchFamily="2" charset="-78"/>
                        </a:rPr>
                        <a:t>التوظيف الإيجابي</a:t>
                      </a:r>
                      <a:endParaRPr kumimoji="0" lang="en-US" sz="2000" b="1" u="none" strike="noStrike" kern="1200" cap="none" spc="0" normalizeH="0" baseline="0" noProof="0" dirty="0">
                        <a:ln>
                          <a:noFill/>
                        </a:ln>
                        <a:effectLst/>
                        <a:uLnTx/>
                        <a:uFillTx/>
                        <a:latin typeface="Sakkal Majalla" panose="02000000000000000000" pitchFamily="2" charset="-78"/>
                        <a:cs typeface="Sakkal Majalla" panose="02000000000000000000" pitchFamily="2" charset="-78"/>
                      </a:endParaRPr>
                    </a:p>
                    <a:p>
                      <a:pPr marL="0" marR="0" algn="ctr" rtl="1">
                        <a:lnSpc>
                          <a:spcPct val="107000"/>
                        </a:lnSpc>
                        <a:spcBef>
                          <a:spcPts val="0"/>
                        </a:spcBef>
                        <a:spcAft>
                          <a:spcPts val="0"/>
                        </a:spcAft>
                      </a:pPr>
                      <a:endParaRPr lang="ar-BH" sz="2000" b="1" dirty="0">
                        <a:effectLst/>
                        <a:latin typeface="Sakkal Majalla" panose="02000000000000000000" pitchFamily="2" charset="-78"/>
                        <a:cs typeface="Sakkal Majalla" panose="02000000000000000000" pitchFamily="2" charset="-78"/>
                      </a:endParaRPr>
                    </a:p>
                  </a:txBody>
                  <a:tcPr marL="68580" marR="68580" marT="0" marB="0"/>
                </a:tc>
                <a:extLst>
                  <a:ext uri="{0D108BD9-81ED-4DB2-BD59-A6C34878D82A}">
                    <a16:rowId xmlns:a16="http://schemas.microsoft.com/office/drawing/2014/main" val="10001"/>
                  </a:ext>
                </a:extLst>
              </a:tr>
              <a:tr h="2471034">
                <a:tc>
                  <a:txBody>
                    <a:bodyPr/>
                    <a:lstStyle/>
                    <a:p>
                      <a:pPr marL="0" marR="0" lvl="0" indent="0" algn="r" rtl="1">
                        <a:lnSpc>
                          <a:spcPct val="107000"/>
                        </a:lnSpc>
                        <a:spcBef>
                          <a:spcPts val="0"/>
                        </a:spcBef>
                        <a:spcAft>
                          <a:spcPts val="0"/>
                        </a:spcAft>
                        <a:buFont typeface="Arial" panose="020B0604020202020204" pitchFamily="34" charset="0"/>
                        <a:buNone/>
                      </a:pPr>
                      <a:r>
                        <a:rPr lang="ar-BH" sz="1800" dirty="0">
                          <a:effectLst/>
                          <a:latin typeface="Sakkal Majalla" panose="02000000000000000000" pitchFamily="2" charset="-78"/>
                          <a:cs typeface="Sakkal Majalla" panose="02000000000000000000" pitchFamily="2" charset="-78"/>
                        </a:rPr>
                        <a:t>- التفكّك الأسري</a:t>
                      </a:r>
                    </a:p>
                    <a:p>
                      <a:pPr marL="0" marR="0" lvl="0" indent="0" algn="r" rtl="1">
                        <a:lnSpc>
                          <a:spcPct val="107000"/>
                        </a:lnSpc>
                        <a:spcBef>
                          <a:spcPts val="0"/>
                        </a:spcBef>
                        <a:spcAft>
                          <a:spcPts val="0"/>
                        </a:spcAft>
                        <a:buFont typeface="Arial" panose="020B0604020202020204" pitchFamily="34" charset="0"/>
                        <a:buNone/>
                      </a:pPr>
                      <a:r>
                        <a:rPr lang="ar-BH" sz="1800" dirty="0">
                          <a:effectLst/>
                          <a:latin typeface="Sakkal Majalla" panose="02000000000000000000" pitchFamily="2" charset="-78"/>
                          <a:cs typeface="Sakkal Majalla" panose="02000000000000000000" pitchFamily="2" charset="-78"/>
                        </a:rPr>
                        <a:t>- الانطواء</a:t>
                      </a:r>
                    </a:p>
                    <a:p>
                      <a:pPr marL="0" marR="0" lvl="0" indent="0" algn="r" rtl="1">
                        <a:lnSpc>
                          <a:spcPct val="107000"/>
                        </a:lnSpc>
                        <a:spcBef>
                          <a:spcPts val="0"/>
                        </a:spcBef>
                        <a:spcAft>
                          <a:spcPts val="0"/>
                        </a:spcAft>
                        <a:buFont typeface="Arial" panose="020B0604020202020204" pitchFamily="34" charset="0"/>
                        <a:buNone/>
                      </a:pPr>
                      <a:r>
                        <a:rPr lang="ar-BH" sz="1800" dirty="0">
                          <a:effectLst/>
                          <a:latin typeface="Sakkal Majalla" panose="02000000000000000000" pitchFamily="2" charset="-78"/>
                          <a:cs typeface="Sakkal Majalla" panose="02000000000000000000" pitchFamily="2" charset="-78"/>
                        </a:rPr>
                        <a:t>- الفقر</a:t>
                      </a:r>
                    </a:p>
                    <a:p>
                      <a:pPr marL="0" marR="0" lvl="0" indent="0" algn="r" rtl="1">
                        <a:lnSpc>
                          <a:spcPct val="107000"/>
                        </a:lnSpc>
                        <a:spcBef>
                          <a:spcPts val="0"/>
                        </a:spcBef>
                        <a:spcAft>
                          <a:spcPts val="0"/>
                        </a:spcAft>
                        <a:buFont typeface="Arial" panose="020B0604020202020204" pitchFamily="34" charset="0"/>
                        <a:buNone/>
                      </a:pPr>
                      <a:r>
                        <a:rPr lang="ar-BH" sz="1800" dirty="0">
                          <a:effectLst/>
                          <a:latin typeface="Sakkal Majalla" panose="02000000000000000000" pitchFamily="2" charset="-78"/>
                          <a:cs typeface="Sakkal Majalla" panose="02000000000000000000" pitchFamily="2" charset="-78"/>
                        </a:rPr>
                        <a:t>- أخرى</a:t>
                      </a:r>
                      <a:endParaRPr lang="en-US" sz="1800" dirty="0">
                        <a:effectLst/>
                        <a:latin typeface="Sakkal Majalla" panose="02000000000000000000" pitchFamily="2" charset="-78"/>
                        <a:cs typeface="Sakkal Majalla" panose="02000000000000000000" pitchFamily="2" charset="-78"/>
                      </a:endParaRPr>
                    </a:p>
                  </a:txBody>
                  <a:tcPr marL="68580" marR="68580" marT="0" marB="0"/>
                </a:tc>
                <a:tc>
                  <a:txBody>
                    <a:bodyPr/>
                    <a:lstStyle/>
                    <a:p>
                      <a:pPr marL="0" marR="0" algn="r" rtl="1">
                        <a:lnSpc>
                          <a:spcPct val="107000"/>
                        </a:lnSpc>
                        <a:spcBef>
                          <a:spcPts val="0"/>
                        </a:spcBef>
                        <a:spcAft>
                          <a:spcPts val="0"/>
                        </a:spcAft>
                      </a:pPr>
                      <a:r>
                        <a:rPr lang="ar-BH" sz="2000" b="1" dirty="0">
                          <a:effectLst/>
                          <a:latin typeface="Sakkal Majalla" panose="02000000000000000000" pitchFamily="2" charset="-78"/>
                          <a:cs typeface="Sakkal Majalla" panose="02000000000000000000" pitchFamily="2" charset="-78"/>
                        </a:rPr>
                        <a:t>يمكن تفريغ هذه الطاقات عبر ممارسة متوازنة للأدوار المجتمعيّة:</a:t>
                      </a:r>
                      <a:endParaRPr lang="en-US" sz="2000" b="1" dirty="0">
                        <a:effectLst/>
                        <a:latin typeface="Sakkal Majalla" panose="02000000000000000000" pitchFamily="2" charset="-78"/>
                        <a:cs typeface="Sakkal Majalla" panose="02000000000000000000" pitchFamily="2" charset="-78"/>
                      </a:endParaRPr>
                    </a:p>
                    <a:p>
                      <a:pPr marL="0" marR="0" lvl="0" indent="0" algn="justLow" rtl="1">
                        <a:lnSpc>
                          <a:spcPct val="107000"/>
                        </a:lnSpc>
                        <a:spcBef>
                          <a:spcPts val="0"/>
                        </a:spcBef>
                        <a:spcAft>
                          <a:spcPts val="0"/>
                        </a:spcAft>
                        <a:buFont typeface="Arial" panose="020B0604020202020204" pitchFamily="34" charset="0"/>
                        <a:buNone/>
                      </a:pPr>
                      <a:r>
                        <a:rPr lang="ar-BH" sz="2000" b="1" dirty="0">
                          <a:effectLst/>
                          <a:latin typeface="Sakkal Majalla" panose="02000000000000000000" pitchFamily="2" charset="-78"/>
                          <a:cs typeface="Sakkal Majalla" panose="02000000000000000000" pitchFamily="2" charset="-78"/>
                        </a:rPr>
                        <a:t>-   زواج ناجح وأسرة مستقرّة.</a:t>
                      </a:r>
                      <a:endParaRPr lang="en-US" sz="2000" b="1" dirty="0">
                        <a:effectLst/>
                        <a:latin typeface="Sakkal Majalla" panose="02000000000000000000" pitchFamily="2" charset="-78"/>
                        <a:cs typeface="Sakkal Majalla" panose="02000000000000000000" pitchFamily="2" charset="-78"/>
                      </a:endParaRPr>
                    </a:p>
                    <a:p>
                      <a:pPr marL="342900" marR="0" lvl="0" indent="-342900" algn="just" rtl="1">
                        <a:lnSpc>
                          <a:spcPct val="107000"/>
                        </a:lnSpc>
                        <a:spcBef>
                          <a:spcPts val="0"/>
                        </a:spcBef>
                        <a:spcAft>
                          <a:spcPts val="0"/>
                        </a:spcAft>
                        <a:buFont typeface="Arial" panose="020B0604020202020204" pitchFamily="34" charset="0"/>
                        <a:buChar char="-"/>
                      </a:pPr>
                      <a:r>
                        <a:rPr lang="ar-BH" sz="2000" b="1" dirty="0">
                          <a:effectLst/>
                          <a:latin typeface="Sakkal Majalla" panose="02000000000000000000" pitchFamily="2" charset="-78"/>
                          <a:cs typeface="Sakkal Majalla" panose="02000000000000000000" pitchFamily="2" charset="-78"/>
                        </a:rPr>
                        <a:t>صداقات سويّة.</a:t>
                      </a:r>
                      <a:endParaRPr lang="en-US" sz="2000" b="1" dirty="0">
                        <a:effectLst/>
                        <a:latin typeface="Sakkal Majalla" panose="02000000000000000000" pitchFamily="2" charset="-78"/>
                        <a:cs typeface="Sakkal Majalla" panose="02000000000000000000" pitchFamily="2" charset="-78"/>
                      </a:endParaRPr>
                    </a:p>
                    <a:p>
                      <a:pPr marL="342900" marR="0" lvl="0" indent="-342900" algn="just" rtl="1">
                        <a:lnSpc>
                          <a:spcPct val="107000"/>
                        </a:lnSpc>
                        <a:spcBef>
                          <a:spcPts val="0"/>
                        </a:spcBef>
                        <a:spcAft>
                          <a:spcPts val="0"/>
                        </a:spcAft>
                        <a:buFont typeface="Arial" panose="020B0604020202020204" pitchFamily="34" charset="0"/>
                        <a:buChar char="-"/>
                      </a:pPr>
                      <a:r>
                        <a:rPr lang="ar-BH" sz="2000" b="1" dirty="0">
                          <a:effectLst/>
                          <a:latin typeface="Sakkal Majalla" panose="02000000000000000000" pitchFamily="2" charset="-78"/>
                          <a:cs typeface="Sakkal Majalla" panose="02000000000000000000" pitchFamily="2" charset="-78"/>
                        </a:rPr>
                        <a:t>عمل ووظيفة مستقرّة.</a:t>
                      </a:r>
                      <a:endParaRPr lang="en-US" sz="2000" b="1" dirty="0">
                        <a:effectLst/>
                        <a:latin typeface="Sakkal Majalla" panose="02000000000000000000" pitchFamily="2" charset="-78"/>
                        <a:cs typeface="Sakkal Majalla" panose="02000000000000000000" pitchFamily="2" charset="-78"/>
                      </a:endParaRPr>
                    </a:p>
                    <a:p>
                      <a:pPr marL="342900" marR="0" lvl="0" indent="-342900" algn="just" rtl="1">
                        <a:lnSpc>
                          <a:spcPct val="107000"/>
                        </a:lnSpc>
                        <a:spcBef>
                          <a:spcPts val="0"/>
                        </a:spcBef>
                        <a:spcAft>
                          <a:spcPts val="0"/>
                        </a:spcAft>
                        <a:buFont typeface="Arial" panose="020B0604020202020204" pitchFamily="34" charset="0"/>
                        <a:buChar char="-"/>
                      </a:pPr>
                      <a:r>
                        <a:rPr lang="ar-BH" sz="2000" b="1" dirty="0">
                          <a:effectLst/>
                          <a:latin typeface="Sakkal Majalla" panose="02000000000000000000" pitchFamily="2" charset="-78"/>
                          <a:cs typeface="Sakkal Majalla" panose="02000000000000000000" pitchFamily="2" charset="-78"/>
                        </a:rPr>
                        <a:t>المساهمات التطوّعيّة. </a:t>
                      </a:r>
                      <a:endParaRPr lang="en-US" sz="2000" b="1"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tc>
                <a:extLst>
                  <a:ext uri="{0D108BD9-81ED-4DB2-BD59-A6C34878D82A}">
                    <a16:rowId xmlns:a16="http://schemas.microsoft.com/office/drawing/2014/main" val="10002"/>
                  </a:ext>
                </a:extLst>
              </a:tr>
            </a:tbl>
          </a:graphicData>
        </a:graphic>
      </p:graphicFrame>
      <p:sp>
        <p:nvSpPr>
          <p:cNvPr id="20" name="Rounded Rectangle 19"/>
          <p:cNvSpPr/>
          <p:nvPr/>
        </p:nvSpPr>
        <p:spPr>
          <a:xfrm>
            <a:off x="4854261" y="404196"/>
            <a:ext cx="3258355" cy="677630"/>
          </a:xfrm>
          <a:prstGeom prst="round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t>1</a:t>
            </a:r>
            <a:r>
              <a:rPr lang="ar-BH" sz="2400" b="1" dirty="0">
                <a:latin typeface="Sakkal Majalla" panose="02000000000000000000" pitchFamily="2" charset="-78"/>
                <a:cs typeface="Sakkal Majalla" panose="02000000000000000000" pitchFamily="2" charset="-78"/>
              </a:rPr>
              <a:t>. توظيف الطاقات الشبابيّة:</a:t>
            </a:r>
            <a:endParaRPr lang="en-US" sz="24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2768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500" fill="hold"/>
                                        <p:tgtEl>
                                          <p:spTgt spid="20"/>
                                        </p:tgtEl>
                                        <p:attrNameLst>
                                          <p:attrName>ppt_x</p:attrName>
                                        </p:attrNameLst>
                                      </p:cBhvr>
                                      <p:tavLst>
                                        <p:tav tm="0">
                                          <p:val>
                                            <p:strVal val="#ppt_x"/>
                                          </p:val>
                                        </p:tav>
                                        <p:tav tm="100000">
                                          <p:val>
                                            <p:strVal val="#ppt_x"/>
                                          </p:val>
                                        </p:tav>
                                      </p:tavLst>
                                    </p:anim>
                                    <p:anim calcmode="lin" valueType="num">
                                      <p:cBhvr additive="base">
                                        <p:cTn id="1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0"/>
                                        <p:tgtEl>
                                          <p:spTgt spid="11"/>
                                        </p:tgtEl>
                                      </p:cBhvr>
                                    </p:animEffect>
                                    <p:anim calcmode="lin" valueType="num">
                                      <p:cBhvr>
                                        <p:cTn id="28" dur="2000" fill="hold"/>
                                        <p:tgtEl>
                                          <p:spTgt spid="11"/>
                                        </p:tgtEl>
                                        <p:attrNameLst>
                                          <p:attrName>ppt_w</p:attrName>
                                        </p:attrNameLst>
                                      </p:cBhvr>
                                      <p:tavLst>
                                        <p:tav tm="0" fmla="#ppt_w*sin(2.5*pi*$)">
                                          <p:val>
                                            <p:fltVal val="0"/>
                                          </p:val>
                                        </p:tav>
                                        <p:tav tm="100000">
                                          <p:val>
                                            <p:fltVal val="1"/>
                                          </p:val>
                                        </p:tav>
                                      </p:tavLst>
                                    </p:anim>
                                    <p:anim calcmode="lin" valueType="num">
                                      <p:cBhvr>
                                        <p:cTn id="29" dur="20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45" presetClass="entr" presetSubtype="0"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2000"/>
                                        <p:tgtEl>
                                          <p:spTgt spid="18"/>
                                        </p:tgtEl>
                                      </p:cBhvr>
                                    </p:animEffect>
                                    <p:anim calcmode="lin" valueType="num">
                                      <p:cBhvr>
                                        <p:cTn id="35" dur="2000" fill="hold"/>
                                        <p:tgtEl>
                                          <p:spTgt spid="18"/>
                                        </p:tgtEl>
                                        <p:attrNameLst>
                                          <p:attrName>ppt_w</p:attrName>
                                        </p:attrNameLst>
                                      </p:cBhvr>
                                      <p:tavLst>
                                        <p:tav tm="0" fmla="#ppt_w*sin(2.5*pi*$)">
                                          <p:val>
                                            <p:fltVal val="0"/>
                                          </p:val>
                                        </p:tav>
                                        <p:tav tm="100000">
                                          <p:val>
                                            <p:fltVal val="1"/>
                                          </p:val>
                                        </p:tav>
                                      </p:tavLst>
                                    </p:anim>
                                    <p:anim calcmode="lin" valueType="num">
                                      <p:cBhvr>
                                        <p:cTn id="36" dur="20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45"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2000"/>
                                        <p:tgtEl>
                                          <p:spTgt spid="19"/>
                                        </p:tgtEl>
                                      </p:cBhvr>
                                    </p:animEffect>
                                    <p:anim calcmode="lin" valueType="num">
                                      <p:cBhvr>
                                        <p:cTn id="42" dur="2000" fill="hold"/>
                                        <p:tgtEl>
                                          <p:spTgt spid="19"/>
                                        </p:tgtEl>
                                        <p:attrNameLst>
                                          <p:attrName>ppt_w</p:attrName>
                                        </p:attrNameLst>
                                      </p:cBhvr>
                                      <p:tavLst>
                                        <p:tav tm="0" fmla="#ppt_w*sin(2.5*pi*$)">
                                          <p:val>
                                            <p:fltVal val="0"/>
                                          </p:val>
                                        </p:tav>
                                        <p:tav tm="100000">
                                          <p:val>
                                            <p:fltVal val="1"/>
                                          </p:val>
                                        </p:tav>
                                      </p:tavLst>
                                    </p:anim>
                                    <p:anim calcmode="lin" valueType="num">
                                      <p:cBhvr>
                                        <p:cTn id="43" dur="2000" fill="hold"/>
                                        <p:tgtEl>
                                          <p:spTgt spid="1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306873" y="126526"/>
            <a:ext cx="3692584" cy="574714"/>
          </a:xfrm>
          <a:prstGeom prst="roundRect">
            <a:avLst/>
          </a:prstGeom>
          <a:solidFill>
            <a:schemeClr val="accent4">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BH" sz="2800" b="1" dirty="0">
                <a:solidFill>
                  <a:schemeClr val="tx1"/>
                </a:solidFill>
                <a:latin typeface="Sakkal Majalla" panose="02000000000000000000" pitchFamily="2" charset="-78"/>
                <a:cs typeface="Sakkal Majalla" panose="02000000000000000000" pitchFamily="2" charset="-78"/>
              </a:rPr>
              <a:t>2. التوظيف والمشكلات (تابع)</a:t>
            </a:r>
            <a:endParaRPr lang="en-US" sz="2800" b="1" dirty="0">
              <a:solidFill>
                <a:schemeClr val="tx1"/>
              </a:solidFill>
              <a:latin typeface="Sakkal Majalla" panose="02000000000000000000" pitchFamily="2" charset="-78"/>
              <a:cs typeface="Sakkal Majalla" panose="02000000000000000000" pitchFamily="2" charset="-78"/>
            </a:endParaRPr>
          </a:p>
        </p:txBody>
      </p:sp>
      <p:sp>
        <p:nvSpPr>
          <p:cNvPr id="18" name="مستطيل 6">
            <a:extLst>
              <a:ext uri="{FF2B5EF4-FFF2-40B4-BE49-F238E27FC236}">
                <a16:creationId xmlns:a16="http://schemas.microsoft.com/office/drawing/2014/main" id="{08B25958-FB96-4329-9207-5207919AE353}"/>
              </a:ext>
            </a:extLst>
          </p:cNvPr>
          <p:cNvSpPr/>
          <p:nvPr/>
        </p:nvSpPr>
        <p:spPr>
          <a:xfrm>
            <a:off x="90152" y="90718"/>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2" name="Rounded Rectangle 1"/>
          <p:cNvSpPr/>
          <p:nvPr/>
        </p:nvSpPr>
        <p:spPr>
          <a:xfrm>
            <a:off x="3794077" y="818865"/>
            <a:ext cx="4409765" cy="627797"/>
          </a:xfrm>
          <a:prstGeom prst="round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2. أبرز مشكلات بعض فئات الشباب في العالم:</a:t>
            </a:r>
            <a:endParaRPr lang="en-US" sz="2400" b="1" dirty="0">
              <a:latin typeface="Sakkal Majalla" panose="02000000000000000000" pitchFamily="2" charset="-78"/>
              <a:cs typeface="Sakkal Majalla" panose="02000000000000000000" pitchFamily="2" charset="-78"/>
            </a:endParaRPr>
          </a:p>
        </p:txBody>
      </p:sp>
      <p:sp>
        <p:nvSpPr>
          <p:cNvPr id="4" name="Rectangle 3"/>
          <p:cNvSpPr/>
          <p:nvPr/>
        </p:nvSpPr>
        <p:spPr>
          <a:xfrm>
            <a:off x="5281683" y="1542126"/>
            <a:ext cx="5457563" cy="188346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Low" rtl="1"/>
            <a:r>
              <a:rPr lang="ar-BH" sz="2000" b="1" dirty="0">
                <a:latin typeface="Sakkal Majalla" panose="02000000000000000000" pitchFamily="2" charset="-78"/>
                <a:cs typeface="Sakkal Majalla" panose="02000000000000000000" pitchFamily="2" charset="-78"/>
              </a:rPr>
              <a:t>هو اعتياد مَرَضي للإنسان على سلوك معين، أو مادة مخدرة بحيث يصبح تحت تأثيرها في كل سلوكات حياته اليومية، ولا يستطيع الاستغناء عنها، وبمجرد غياب مفعولها، أو عدم القيام بالسلوك المعتاد تتأثر حالته النفسية والمزاجية بشكل ملحوظ، ويصبح همه وكل ما يشغله أن يتحصل عليها لتعود له سعادته الزائفة.  </a:t>
            </a:r>
            <a:endParaRPr lang="en-US" sz="2000" b="1" dirty="0">
              <a:latin typeface="Sakkal Majalla" panose="02000000000000000000" pitchFamily="2" charset="-78"/>
              <a:cs typeface="Sakkal Majalla" panose="02000000000000000000" pitchFamily="2" charset="-78"/>
            </a:endParaRPr>
          </a:p>
        </p:txBody>
      </p:sp>
      <p:sp>
        <p:nvSpPr>
          <p:cNvPr id="19" name="Oval 18"/>
          <p:cNvSpPr/>
          <p:nvPr/>
        </p:nvSpPr>
        <p:spPr>
          <a:xfrm>
            <a:off x="10836322" y="1965276"/>
            <a:ext cx="1287437" cy="1187357"/>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2">
            <a:schemeClr val="accent2"/>
          </a:fillRef>
          <a:effectRef idx="1">
            <a:schemeClr val="accent2"/>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الإدمان</a:t>
            </a:r>
            <a:endParaRPr lang="en-US" sz="2400" b="1" dirty="0">
              <a:latin typeface="Sakkal Majalla" panose="02000000000000000000" pitchFamily="2" charset="-78"/>
              <a:cs typeface="Sakkal Majalla" panose="02000000000000000000" pitchFamily="2" charset="-78"/>
            </a:endParaRPr>
          </a:p>
        </p:txBody>
      </p:sp>
      <p:sp>
        <p:nvSpPr>
          <p:cNvPr id="20" name="Rectangle 19"/>
          <p:cNvSpPr/>
          <p:nvPr/>
        </p:nvSpPr>
        <p:spPr>
          <a:xfrm>
            <a:off x="167426" y="1528478"/>
            <a:ext cx="5012570" cy="189711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Low" rtl="1"/>
            <a:r>
              <a:rPr lang="ar-BH" sz="2000" b="1" dirty="0">
                <a:latin typeface="Sakkal Majalla" panose="02000000000000000000" pitchFamily="2" charset="-78"/>
                <a:cs typeface="Sakkal Majalla" panose="02000000000000000000" pitchFamily="2" charset="-78"/>
              </a:rPr>
              <a:t>وتكمن خطورته -إضافة إلى آثاره  الصحيّة والنفسيّة- في أنه يجعل من المدمن مسلوب الإرادة؛ فيصبح تابعًا غير قادر على أي فعل إرادي حر.</a:t>
            </a:r>
          </a:p>
          <a:p>
            <a:pPr algn="justLow" rtl="1"/>
            <a:r>
              <a:rPr lang="ar-BH" sz="2000" b="1" dirty="0">
                <a:latin typeface="Sakkal Majalla" panose="02000000000000000000" pitchFamily="2" charset="-78"/>
                <a:cs typeface="Sakkal Majalla" panose="02000000000000000000" pitchFamily="2" charset="-78"/>
              </a:rPr>
              <a:t>ويأخذ الإدمان أشكالًا متعددة كإدمان المخدرات والتدخين، وإدمان الأغذية والمشروبات غير الصحيّة؛ مما تتسبب في أمراض القلب والسمنة والسكر...</a:t>
            </a:r>
            <a:endParaRPr lang="en-US" sz="2000" b="1" dirty="0">
              <a:latin typeface="Sakkal Majalla" panose="02000000000000000000" pitchFamily="2" charset="-78"/>
              <a:cs typeface="Sakkal Majalla" panose="02000000000000000000" pitchFamily="2" charset="-78"/>
            </a:endParaRPr>
          </a:p>
        </p:txBody>
      </p:sp>
      <p:sp>
        <p:nvSpPr>
          <p:cNvPr id="3" name="Oval 2"/>
          <p:cNvSpPr/>
          <p:nvPr/>
        </p:nvSpPr>
        <p:spPr>
          <a:xfrm>
            <a:off x="10836321" y="3705235"/>
            <a:ext cx="1287437" cy="1133341"/>
          </a:xfrm>
          <a:prstGeom prst="ellipse">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العنف</a:t>
            </a:r>
            <a:endParaRPr lang="en-US" sz="2400" b="1" dirty="0">
              <a:latin typeface="Sakkal Majalla" panose="02000000000000000000" pitchFamily="2" charset="-78"/>
              <a:cs typeface="Sakkal Majalla" panose="02000000000000000000" pitchFamily="2" charset="-78"/>
            </a:endParaRPr>
          </a:p>
        </p:txBody>
      </p:sp>
      <p:sp>
        <p:nvSpPr>
          <p:cNvPr id="6" name="Rectangle 5"/>
          <p:cNvSpPr/>
          <p:nvPr/>
        </p:nvSpPr>
        <p:spPr>
          <a:xfrm>
            <a:off x="6632620" y="3521051"/>
            <a:ext cx="4106626" cy="1501710"/>
          </a:xfrm>
          <a:prstGeom prst="rect">
            <a:avLst/>
          </a:prstGeom>
          <a:solidFill>
            <a:srgbClr val="00B0F0"/>
          </a:solidFill>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just" rtl="1"/>
            <a:r>
              <a:rPr lang="ar-BH" sz="2000" b="1" dirty="0">
                <a:latin typeface="Sakkal Majalla" panose="02000000000000000000" pitchFamily="2" charset="-78"/>
                <a:cs typeface="Sakkal Majalla" panose="02000000000000000000" pitchFamily="2" charset="-78"/>
              </a:rPr>
              <a:t>هو تعبير عن نوعيّة من العلاقات الاجتماعيّة بين الفرد/الشاب وبقيّة المحيطين به، تقوم على العدوانيّة والإيذاء المعنوي والمادي.  </a:t>
            </a:r>
            <a:endParaRPr lang="en-US" sz="2000" b="1" dirty="0">
              <a:latin typeface="Sakkal Majalla" panose="02000000000000000000" pitchFamily="2" charset="-78"/>
              <a:cs typeface="Sakkal Majalla" panose="02000000000000000000" pitchFamily="2" charset="-78"/>
            </a:endParaRPr>
          </a:p>
        </p:txBody>
      </p:sp>
      <p:sp>
        <p:nvSpPr>
          <p:cNvPr id="7" name="Rectangle 6"/>
          <p:cNvSpPr/>
          <p:nvPr/>
        </p:nvSpPr>
        <p:spPr>
          <a:xfrm>
            <a:off x="167426" y="3521051"/>
            <a:ext cx="6368119" cy="1501710"/>
          </a:xfrm>
          <a:prstGeom prst="rect">
            <a:avLst/>
          </a:prstGeom>
          <a:solidFill>
            <a:srgbClr val="00B0F0"/>
          </a:solidFill>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BH" sz="2000" b="1" dirty="0">
                <a:latin typeface="Sakkal Majalla" panose="02000000000000000000" pitchFamily="2" charset="-78"/>
                <a:cs typeface="Sakkal Majalla" panose="02000000000000000000" pitchFamily="2" charset="-78"/>
              </a:rPr>
              <a:t>يكشف العنف عن: </a:t>
            </a:r>
          </a:p>
          <a:p>
            <a:pPr algn="r" rtl="1"/>
            <a:r>
              <a:rPr lang="ar-BH" sz="2000" b="1" dirty="0">
                <a:latin typeface="Sakkal Majalla" panose="02000000000000000000" pitchFamily="2" charset="-78"/>
                <a:cs typeface="Sakkal Majalla" panose="02000000000000000000" pitchFamily="2" charset="-78"/>
              </a:rPr>
              <a:t>- الفشل في الاندماج داخل المجموعة (الأسرة، المدرسة، المجتمع، ...).</a:t>
            </a:r>
          </a:p>
          <a:p>
            <a:pPr algn="r" rtl="1"/>
            <a:r>
              <a:rPr lang="ar-BH" sz="2000" b="1" dirty="0">
                <a:latin typeface="Sakkal Majalla" panose="02000000000000000000" pitchFamily="2" charset="-78"/>
                <a:cs typeface="Sakkal Majalla" panose="02000000000000000000" pitchFamily="2" charset="-78"/>
              </a:rPr>
              <a:t>- الفشل في التواصل مع الآخرين لعدم القدرة على الحوار والإقناع.</a:t>
            </a:r>
          </a:p>
          <a:p>
            <a:pPr algn="r" rtl="1"/>
            <a:r>
              <a:rPr lang="ar-BH" sz="2000" b="1" dirty="0">
                <a:latin typeface="Sakkal Majalla" panose="02000000000000000000" pitchFamily="2" charset="-78"/>
                <a:cs typeface="Sakkal Majalla" panose="02000000000000000000" pitchFamily="2" charset="-78"/>
              </a:rPr>
              <a:t>- محاولة إثبات الذات ولو بمخالفة الأعراف، والتقاليد المعتادة في المجتمع.</a:t>
            </a:r>
            <a:endParaRPr lang="en-US" sz="2000" b="1" dirty="0">
              <a:latin typeface="Sakkal Majalla" panose="02000000000000000000" pitchFamily="2" charset="-78"/>
              <a:cs typeface="Sakkal Majalla" panose="02000000000000000000" pitchFamily="2" charset="-78"/>
            </a:endParaRPr>
          </a:p>
        </p:txBody>
      </p:sp>
      <p:sp>
        <p:nvSpPr>
          <p:cNvPr id="8" name="Oval 7"/>
          <p:cNvSpPr/>
          <p:nvPr/>
        </p:nvSpPr>
        <p:spPr>
          <a:xfrm>
            <a:off x="10739245" y="5190185"/>
            <a:ext cx="1384513" cy="1171978"/>
          </a:xfrm>
          <a:prstGeom prst="ellipse">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الانطواء</a:t>
            </a:r>
            <a:endParaRPr lang="en-US" sz="2400" b="1" dirty="0">
              <a:latin typeface="Sakkal Majalla" panose="02000000000000000000" pitchFamily="2" charset="-78"/>
              <a:cs typeface="Sakkal Majalla" panose="02000000000000000000" pitchFamily="2" charset="-78"/>
            </a:endParaRPr>
          </a:p>
        </p:txBody>
      </p:sp>
      <p:sp>
        <p:nvSpPr>
          <p:cNvPr id="9" name="Rectangle 8"/>
          <p:cNvSpPr/>
          <p:nvPr/>
        </p:nvSpPr>
        <p:spPr>
          <a:xfrm>
            <a:off x="6632620" y="5125790"/>
            <a:ext cx="4005329" cy="1171978"/>
          </a:xfrm>
          <a:prstGeom prst="rect">
            <a:avLst/>
          </a:prstGeom>
          <a:solidFill>
            <a:schemeClr val="accent6">
              <a:lumMod val="20000"/>
              <a:lumOff val="80000"/>
            </a:schemeClr>
          </a:solidFill>
          <a:ln>
            <a:solidFill>
              <a:schemeClr val="accent6">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just" rtl="1"/>
            <a:r>
              <a:rPr lang="ar-BH" sz="2000" b="1" dirty="0">
                <a:latin typeface="Sakkal Majalla" panose="02000000000000000000" pitchFamily="2" charset="-78"/>
                <a:cs typeface="Sakkal Majalla" panose="02000000000000000000" pitchFamily="2" charset="-78"/>
              </a:rPr>
              <a:t>هو ميل الفرد /الشاب إلى العزلة، والوحدة بعيدًا عن الآخرين، إذ يبدي تبرمًا من البيئة المحيطة به، فلا يتفاعل معها ولا يندمج في أنشطتها.</a:t>
            </a:r>
            <a:endParaRPr lang="en-US" sz="2000" b="1" dirty="0">
              <a:latin typeface="Sakkal Majalla" panose="02000000000000000000" pitchFamily="2" charset="-78"/>
              <a:cs typeface="Sakkal Majalla" panose="02000000000000000000" pitchFamily="2" charset="-78"/>
            </a:endParaRPr>
          </a:p>
        </p:txBody>
      </p:sp>
      <p:sp>
        <p:nvSpPr>
          <p:cNvPr id="10" name="Rectangle 9"/>
          <p:cNvSpPr/>
          <p:nvPr/>
        </p:nvSpPr>
        <p:spPr>
          <a:xfrm>
            <a:off x="167426" y="5125791"/>
            <a:ext cx="6368119" cy="1171978"/>
          </a:xfrm>
          <a:prstGeom prst="rect">
            <a:avLst/>
          </a:prstGeom>
          <a:solidFill>
            <a:schemeClr val="accent6">
              <a:lumMod val="20000"/>
              <a:lumOff val="80000"/>
            </a:schemeClr>
          </a:solidFill>
          <a:ln>
            <a:solidFill>
              <a:schemeClr val="accent6">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BH" sz="2000" b="1" dirty="0">
                <a:latin typeface="Sakkal Majalla" panose="02000000000000000000" pitchFamily="2" charset="-78"/>
                <a:cs typeface="Sakkal Majalla" panose="02000000000000000000" pitchFamily="2" charset="-78"/>
              </a:rPr>
              <a:t>يكشف السلوك الانطوائي عن:</a:t>
            </a:r>
          </a:p>
          <a:p>
            <a:pPr algn="r" rtl="1"/>
            <a:r>
              <a:rPr lang="ar-BH" sz="2000" b="1" dirty="0">
                <a:latin typeface="Sakkal Majalla" panose="02000000000000000000" pitchFamily="2" charset="-78"/>
                <a:cs typeface="Sakkal Majalla" panose="02000000000000000000" pitchFamily="2" charset="-78"/>
              </a:rPr>
              <a:t>- رفض الاندماج في المجتمع، وتفضيل العزلة عنه.</a:t>
            </a:r>
          </a:p>
          <a:p>
            <a:pPr algn="r" rtl="1"/>
            <a:r>
              <a:rPr lang="ar-BH" sz="2000" b="1" dirty="0">
                <a:latin typeface="Sakkal Majalla" panose="02000000000000000000" pitchFamily="2" charset="-78"/>
                <a:cs typeface="Sakkal Majalla" panose="02000000000000000000" pitchFamily="2" charset="-78"/>
              </a:rPr>
              <a:t>- عدم القدرة على التواصل الاجتماعي.</a:t>
            </a:r>
          </a:p>
          <a:p>
            <a:pPr algn="r" rtl="1"/>
            <a:r>
              <a:rPr lang="ar-BH" sz="2000" b="1" dirty="0">
                <a:latin typeface="Sakkal Majalla" panose="02000000000000000000" pitchFamily="2" charset="-78"/>
                <a:cs typeface="Sakkal Majalla" panose="02000000000000000000" pitchFamily="2" charset="-78"/>
              </a:rPr>
              <a:t>- التشاؤم وعدم الثقة في النفس.</a:t>
            </a:r>
            <a:endParaRPr lang="en-US" sz="20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5145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anim calcmode="lin" valueType="num">
                                      <p:cBhvr>
                                        <p:cTn id="16" dur="1000" fill="hold"/>
                                        <p:tgtEl>
                                          <p:spTgt spid="2"/>
                                        </p:tgtEl>
                                        <p:attrNameLst>
                                          <p:attrName>ppt_x</p:attrName>
                                        </p:attrNameLst>
                                      </p:cBhvr>
                                      <p:tavLst>
                                        <p:tav tm="0">
                                          <p:val>
                                            <p:strVal val="#ppt_x"/>
                                          </p:val>
                                        </p:tav>
                                        <p:tav tm="100000">
                                          <p:val>
                                            <p:strVal val="#ppt_x"/>
                                          </p:val>
                                        </p:tav>
                                      </p:tavLst>
                                    </p:anim>
                                    <p:anim calcmode="lin" valueType="num">
                                      <p:cBhvr>
                                        <p:cTn id="1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5"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2000"/>
                                        <p:tgtEl>
                                          <p:spTgt spid="19"/>
                                        </p:tgtEl>
                                      </p:cBhvr>
                                    </p:animEffect>
                                    <p:anim calcmode="lin" valueType="num">
                                      <p:cBhvr>
                                        <p:cTn id="23" dur="2000" fill="hold"/>
                                        <p:tgtEl>
                                          <p:spTgt spid="19"/>
                                        </p:tgtEl>
                                        <p:attrNameLst>
                                          <p:attrName>ppt_w</p:attrName>
                                        </p:attrNameLst>
                                      </p:cBhvr>
                                      <p:tavLst>
                                        <p:tav tm="0" fmla="#ppt_w*sin(2.5*pi*$)">
                                          <p:val>
                                            <p:fltVal val="0"/>
                                          </p:val>
                                        </p:tav>
                                        <p:tav tm="100000">
                                          <p:val>
                                            <p:fltVal val="1"/>
                                          </p:val>
                                        </p:tav>
                                      </p:tavLst>
                                    </p:anim>
                                    <p:anim calcmode="lin" valueType="num">
                                      <p:cBhvr>
                                        <p:cTn id="24" dur="2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1000"/>
                                        <p:tgtEl>
                                          <p:spTgt spid="4"/>
                                        </p:tgtEl>
                                      </p:cBhvr>
                                    </p:animEffect>
                                    <p:anim calcmode="lin" valueType="num">
                                      <p:cBhvr>
                                        <p:cTn id="30" dur="1000" fill="hold"/>
                                        <p:tgtEl>
                                          <p:spTgt spid="4"/>
                                        </p:tgtEl>
                                        <p:attrNameLst>
                                          <p:attrName>ppt_x</p:attrName>
                                        </p:attrNameLst>
                                      </p:cBhvr>
                                      <p:tavLst>
                                        <p:tav tm="0">
                                          <p:val>
                                            <p:strVal val="#ppt_x"/>
                                          </p:val>
                                        </p:tav>
                                        <p:tav tm="100000">
                                          <p:val>
                                            <p:strVal val="#ppt_x"/>
                                          </p:val>
                                        </p:tav>
                                      </p:tavLst>
                                    </p:anim>
                                    <p:anim calcmode="lin" valueType="num">
                                      <p:cBhvr>
                                        <p:cTn id="3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5"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2000"/>
                                        <p:tgtEl>
                                          <p:spTgt spid="3"/>
                                        </p:tgtEl>
                                      </p:cBhvr>
                                    </p:animEffect>
                                    <p:anim calcmode="lin" valueType="num">
                                      <p:cBhvr>
                                        <p:cTn id="44" dur="2000" fill="hold"/>
                                        <p:tgtEl>
                                          <p:spTgt spid="3"/>
                                        </p:tgtEl>
                                        <p:attrNameLst>
                                          <p:attrName>ppt_w</p:attrName>
                                        </p:attrNameLst>
                                      </p:cBhvr>
                                      <p:tavLst>
                                        <p:tav tm="0" fmla="#ppt_w*sin(2.5*pi*$)">
                                          <p:val>
                                            <p:fltVal val="0"/>
                                          </p:val>
                                        </p:tav>
                                        <p:tav tm="100000">
                                          <p:val>
                                            <p:fltVal val="1"/>
                                          </p:val>
                                        </p:tav>
                                      </p:tavLst>
                                    </p:anim>
                                    <p:anim calcmode="lin" valueType="num">
                                      <p:cBhvr>
                                        <p:cTn id="45"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1000"/>
                                        <p:tgtEl>
                                          <p:spTgt spid="6"/>
                                        </p:tgtEl>
                                      </p:cBhvr>
                                    </p:animEffect>
                                    <p:anim calcmode="lin" valueType="num">
                                      <p:cBhvr>
                                        <p:cTn id="51" dur="1000" fill="hold"/>
                                        <p:tgtEl>
                                          <p:spTgt spid="6"/>
                                        </p:tgtEl>
                                        <p:attrNameLst>
                                          <p:attrName>ppt_x</p:attrName>
                                        </p:attrNameLst>
                                      </p:cBhvr>
                                      <p:tavLst>
                                        <p:tav tm="0">
                                          <p:val>
                                            <p:strVal val="#ppt_x"/>
                                          </p:val>
                                        </p:tav>
                                        <p:tav tm="100000">
                                          <p:val>
                                            <p:strVal val="#ppt_x"/>
                                          </p:val>
                                        </p:tav>
                                      </p:tavLst>
                                    </p:anim>
                                    <p:anim calcmode="lin" valueType="num">
                                      <p:cBhvr>
                                        <p:cTn id="5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1000"/>
                                        <p:tgtEl>
                                          <p:spTgt spid="7"/>
                                        </p:tgtEl>
                                      </p:cBhvr>
                                    </p:animEffect>
                                    <p:anim calcmode="lin" valueType="num">
                                      <p:cBhvr>
                                        <p:cTn id="58" dur="1000" fill="hold"/>
                                        <p:tgtEl>
                                          <p:spTgt spid="7"/>
                                        </p:tgtEl>
                                        <p:attrNameLst>
                                          <p:attrName>ppt_x</p:attrName>
                                        </p:attrNameLst>
                                      </p:cBhvr>
                                      <p:tavLst>
                                        <p:tav tm="0">
                                          <p:val>
                                            <p:strVal val="#ppt_x"/>
                                          </p:val>
                                        </p:tav>
                                        <p:tav tm="100000">
                                          <p:val>
                                            <p:strVal val="#ppt_x"/>
                                          </p:val>
                                        </p:tav>
                                      </p:tavLst>
                                    </p:anim>
                                    <p:anim calcmode="lin" valueType="num">
                                      <p:cBhvr>
                                        <p:cTn id="5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5" presetClass="entr" presetSubtype="0" fill="hold" grpId="0" nodeType="click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fade">
                                      <p:cBhvr>
                                        <p:cTn id="64" dur="2000"/>
                                        <p:tgtEl>
                                          <p:spTgt spid="8"/>
                                        </p:tgtEl>
                                      </p:cBhvr>
                                    </p:animEffect>
                                    <p:anim calcmode="lin" valueType="num">
                                      <p:cBhvr>
                                        <p:cTn id="65" dur="2000" fill="hold"/>
                                        <p:tgtEl>
                                          <p:spTgt spid="8"/>
                                        </p:tgtEl>
                                        <p:attrNameLst>
                                          <p:attrName>ppt_w</p:attrName>
                                        </p:attrNameLst>
                                      </p:cBhvr>
                                      <p:tavLst>
                                        <p:tav tm="0" fmla="#ppt_w*sin(2.5*pi*$)">
                                          <p:val>
                                            <p:fltVal val="0"/>
                                          </p:val>
                                        </p:tav>
                                        <p:tav tm="100000">
                                          <p:val>
                                            <p:fltVal val="1"/>
                                          </p:val>
                                        </p:tav>
                                      </p:tavLst>
                                    </p:anim>
                                    <p:anim calcmode="lin" valueType="num">
                                      <p:cBhvr>
                                        <p:cTn id="66"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1000"/>
                                        <p:tgtEl>
                                          <p:spTgt spid="9"/>
                                        </p:tgtEl>
                                      </p:cBhvr>
                                    </p:animEffect>
                                    <p:anim calcmode="lin" valueType="num">
                                      <p:cBhvr>
                                        <p:cTn id="72" dur="1000" fill="hold"/>
                                        <p:tgtEl>
                                          <p:spTgt spid="9"/>
                                        </p:tgtEl>
                                        <p:attrNameLst>
                                          <p:attrName>ppt_x</p:attrName>
                                        </p:attrNameLst>
                                      </p:cBhvr>
                                      <p:tavLst>
                                        <p:tav tm="0">
                                          <p:val>
                                            <p:strVal val="#ppt_x"/>
                                          </p:val>
                                        </p:tav>
                                        <p:tav tm="100000">
                                          <p:val>
                                            <p:strVal val="#ppt_x"/>
                                          </p:val>
                                        </p:tav>
                                      </p:tavLst>
                                    </p:anim>
                                    <p:anim calcmode="lin" valueType="num">
                                      <p:cBhvr>
                                        <p:cTn id="7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0"/>
                                        </p:tgtEl>
                                        <p:attrNameLst>
                                          <p:attrName>style.visibility</p:attrName>
                                        </p:attrNameLst>
                                      </p:cBhvr>
                                      <p:to>
                                        <p:strVal val="visible"/>
                                      </p:to>
                                    </p:set>
                                    <p:animEffect transition="in" filter="fade">
                                      <p:cBhvr>
                                        <p:cTn id="78" dur="1000"/>
                                        <p:tgtEl>
                                          <p:spTgt spid="10"/>
                                        </p:tgtEl>
                                      </p:cBhvr>
                                    </p:animEffect>
                                    <p:anim calcmode="lin" valueType="num">
                                      <p:cBhvr>
                                        <p:cTn id="79" dur="1000" fill="hold"/>
                                        <p:tgtEl>
                                          <p:spTgt spid="10"/>
                                        </p:tgtEl>
                                        <p:attrNameLst>
                                          <p:attrName>ppt_x</p:attrName>
                                        </p:attrNameLst>
                                      </p:cBhvr>
                                      <p:tavLst>
                                        <p:tav tm="0">
                                          <p:val>
                                            <p:strVal val="#ppt_x"/>
                                          </p:val>
                                        </p:tav>
                                        <p:tav tm="100000">
                                          <p:val>
                                            <p:strVal val="#ppt_x"/>
                                          </p:val>
                                        </p:tav>
                                      </p:tavLst>
                                    </p:anim>
                                    <p:anim calcmode="lin" valueType="num">
                                      <p:cBhvr>
                                        <p:cTn id="8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19" grpId="0" animBg="1"/>
      <p:bldP spid="20" grpId="0" animBg="1"/>
      <p:bldP spid="3" grpId="0" animBg="1"/>
      <p:bldP spid="6" grpId="0" animBg="1"/>
      <p:bldP spid="7" grpId="0" animBg="1"/>
      <p:bldP spid="8" grpId="0"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45421" y="97382"/>
            <a:ext cx="5886031" cy="675208"/>
          </a:xfrm>
          <a:prstGeom prst="rect">
            <a:avLst/>
          </a:prstGeom>
          <a:solidFill>
            <a:srgbClr val="E781D1"/>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2</a:t>
            </a:r>
            <a:r>
              <a:rPr lang="ar-BH" sz="2800" b="1" dirty="0">
                <a:latin typeface="Sakkal Majalla" panose="02000000000000000000" pitchFamily="2" charset="-78"/>
                <a:cs typeface="Sakkal Majalla" panose="02000000000000000000" pitchFamily="2" charset="-78"/>
              </a:rPr>
              <a:t>. ما يتعلق بوسائل التواصل الاجتماعي الحديثة:</a:t>
            </a:r>
            <a:endParaRPr lang="en-US" sz="2800" b="1" dirty="0">
              <a:latin typeface="Sakkal Majalla" panose="02000000000000000000" pitchFamily="2" charset="-78"/>
              <a:cs typeface="Sakkal Majalla" panose="02000000000000000000" pitchFamily="2" charset="-78"/>
            </a:endParaRPr>
          </a:p>
        </p:txBody>
      </p:sp>
      <p:sp>
        <p:nvSpPr>
          <p:cNvPr id="19" name="مستطيل 6">
            <a:extLst>
              <a:ext uri="{FF2B5EF4-FFF2-40B4-BE49-F238E27FC236}">
                <a16:creationId xmlns:a16="http://schemas.microsoft.com/office/drawing/2014/main" id="{08B25958-FB96-4329-9207-5207919AE353}"/>
              </a:ext>
            </a:extLst>
          </p:cNvPr>
          <p:cNvSpPr/>
          <p:nvPr/>
        </p:nvSpPr>
        <p:spPr>
          <a:xfrm>
            <a:off x="172038" y="92454"/>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20" name="Rounded Rectangle 19"/>
          <p:cNvSpPr/>
          <p:nvPr/>
        </p:nvSpPr>
        <p:spPr>
          <a:xfrm>
            <a:off x="4694630" y="3299960"/>
            <a:ext cx="3002509" cy="957729"/>
          </a:xfrm>
          <a:prstGeom prst="roundRect">
            <a:avLst/>
          </a:prstGeom>
          <a:solidFill>
            <a:srgbClr val="FDD1FE"/>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400" b="1" dirty="0">
                <a:latin typeface="Sakkal Majalla" panose="02000000000000000000" pitchFamily="2" charset="-78"/>
                <a:cs typeface="Sakkal Majalla" panose="02000000000000000000" pitchFamily="2" charset="-78"/>
              </a:rPr>
              <a:t>أهمية  وسائل التواصل الاجتماعي الحديثة</a:t>
            </a:r>
            <a:endParaRPr lang="en-US" sz="2400" b="1" dirty="0">
              <a:latin typeface="Sakkal Majalla" panose="02000000000000000000" pitchFamily="2" charset="-78"/>
              <a:cs typeface="Sakkal Majalla" panose="02000000000000000000" pitchFamily="2" charset="-78"/>
            </a:endParaRPr>
          </a:p>
        </p:txBody>
      </p:sp>
      <p:sp>
        <p:nvSpPr>
          <p:cNvPr id="25" name="Rectangle 24"/>
          <p:cNvSpPr/>
          <p:nvPr/>
        </p:nvSpPr>
        <p:spPr>
          <a:xfrm>
            <a:off x="8850670" y="1824447"/>
            <a:ext cx="2961564" cy="1085310"/>
          </a:xfrm>
          <a:prstGeom prst="rect">
            <a:avLst/>
          </a:prstGeom>
          <a:solidFill>
            <a:srgbClr val="FDD1FE"/>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000" b="1" dirty="0">
                <a:latin typeface="Sakkal Majalla" panose="02000000000000000000" pitchFamily="2" charset="-78"/>
                <a:cs typeface="Sakkal Majalla" panose="02000000000000000000" pitchFamily="2" charset="-78"/>
              </a:rPr>
              <a:t>ارتباطها بقضية التمكين الثقافي والاجتماعي</a:t>
            </a:r>
            <a:endParaRPr lang="en-US" sz="2000" b="1" dirty="0">
              <a:latin typeface="Sakkal Majalla" panose="02000000000000000000" pitchFamily="2" charset="-78"/>
              <a:cs typeface="Sakkal Majalla" panose="02000000000000000000" pitchFamily="2" charset="-78"/>
            </a:endParaRPr>
          </a:p>
        </p:txBody>
      </p:sp>
      <p:sp>
        <p:nvSpPr>
          <p:cNvPr id="26" name="Rectangle 25"/>
          <p:cNvSpPr/>
          <p:nvPr/>
        </p:nvSpPr>
        <p:spPr>
          <a:xfrm>
            <a:off x="8850670" y="4643986"/>
            <a:ext cx="2961564" cy="1101308"/>
          </a:xfrm>
          <a:prstGeom prst="rect">
            <a:avLst/>
          </a:prstGeom>
          <a:solidFill>
            <a:srgbClr val="FDD1FE"/>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000" b="1" dirty="0">
                <a:latin typeface="Sakkal Majalla" panose="02000000000000000000" pitchFamily="2" charset="-78"/>
                <a:cs typeface="Sakkal Majalla" panose="02000000000000000000" pitchFamily="2" charset="-78"/>
              </a:rPr>
              <a:t>مواكبتها للتطورات المحليّة والعالميّة.</a:t>
            </a:r>
            <a:endParaRPr lang="en-US" sz="2000" b="1" dirty="0">
              <a:latin typeface="Sakkal Majalla" panose="02000000000000000000" pitchFamily="2" charset="-78"/>
              <a:cs typeface="Sakkal Majalla" panose="02000000000000000000" pitchFamily="2" charset="-78"/>
            </a:endParaRPr>
          </a:p>
        </p:txBody>
      </p:sp>
      <p:sp>
        <p:nvSpPr>
          <p:cNvPr id="27" name="Rectangle 26"/>
          <p:cNvSpPr/>
          <p:nvPr/>
        </p:nvSpPr>
        <p:spPr>
          <a:xfrm>
            <a:off x="910362" y="1824447"/>
            <a:ext cx="2934269" cy="1085310"/>
          </a:xfrm>
          <a:prstGeom prst="rect">
            <a:avLst/>
          </a:prstGeom>
          <a:solidFill>
            <a:srgbClr val="FDD1FE"/>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000" b="1" dirty="0">
                <a:latin typeface="Sakkal Majalla" panose="02000000000000000000" pitchFamily="2" charset="-78"/>
                <a:cs typeface="Sakkal Majalla" panose="02000000000000000000" pitchFamily="2" charset="-78"/>
              </a:rPr>
              <a:t>انجذاب الشباب وتعلّقهم بها: لسهولتها وتنوعها.</a:t>
            </a:r>
            <a:endParaRPr lang="en-US" sz="2000" b="1" dirty="0">
              <a:latin typeface="Sakkal Majalla" panose="02000000000000000000" pitchFamily="2" charset="-78"/>
              <a:cs typeface="Sakkal Majalla" panose="02000000000000000000" pitchFamily="2" charset="-78"/>
            </a:endParaRPr>
          </a:p>
        </p:txBody>
      </p:sp>
      <p:sp>
        <p:nvSpPr>
          <p:cNvPr id="28" name="Rectangle 27"/>
          <p:cNvSpPr/>
          <p:nvPr/>
        </p:nvSpPr>
        <p:spPr>
          <a:xfrm>
            <a:off x="910362" y="4612942"/>
            <a:ext cx="2920619" cy="805218"/>
          </a:xfrm>
          <a:prstGeom prst="rect">
            <a:avLst/>
          </a:prstGeom>
          <a:solidFill>
            <a:srgbClr val="FDD1FE"/>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000" b="1" dirty="0">
                <a:latin typeface="Sakkal Majalla" panose="02000000000000000000" pitchFamily="2" charset="-78"/>
                <a:cs typeface="Sakkal Majalla" panose="02000000000000000000" pitchFamily="2" charset="-78"/>
              </a:rPr>
              <a:t>الاستعمال غير الرشيد لها قد يخلّف آثارًا سلبيّة.</a:t>
            </a:r>
            <a:endParaRPr lang="en-US" sz="20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0525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p:cTn id="14" dur="1000" fill="hold"/>
                                        <p:tgtEl>
                                          <p:spTgt spid="20"/>
                                        </p:tgtEl>
                                        <p:attrNameLst>
                                          <p:attrName>ppt_w</p:attrName>
                                        </p:attrNameLst>
                                      </p:cBhvr>
                                      <p:tavLst>
                                        <p:tav tm="0">
                                          <p:val>
                                            <p:fltVal val="0"/>
                                          </p:val>
                                        </p:tav>
                                        <p:tav tm="100000">
                                          <p:val>
                                            <p:strVal val="#ppt_w"/>
                                          </p:val>
                                        </p:tav>
                                      </p:tavLst>
                                    </p:anim>
                                    <p:anim calcmode="lin" valueType="num">
                                      <p:cBhvr>
                                        <p:cTn id="15" dur="1000" fill="hold"/>
                                        <p:tgtEl>
                                          <p:spTgt spid="20"/>
                                        </p:tgtEl>
                                        <p:attrNameLst>
                                          <p:attrName>ppt_h</p:attrName>
                                        </p:attrNameLst>
                                      </p:cBhvr>
                                      <p:tavLst>
                                        <p:tav tm="0">
                                          <p:val>
                                            <p:fltVal val="0"/>
                                          </p:val>
                                        </p:tav>
                                        <p:tav tm="100000">
                                          <p:val>
                                            <p:strVal val="#ppt_h"/>
                                          </p:val>
                                        </p:tav>
                                      </p:tavLst>
                                    </p:anim>
                                    <p:anim calcmode="lin" valueType="num">
                                      <p:cBhvr>
                                        <p:cTn id="16" dur="1000" fill="hold"/>
                                        <p:tgtEl>
                                          <p:spTgt spid="20"/>
                                        </p:tgtEl>
                                        <p:attrNameLst>
                                          <p:attrName>style.rotation</p:attrName>
                                        </p:attrNameLst>
                                      </p:cBhvr>
                                      <p:tavLst>
                                        <p:tav tm="0">
                                          <p:val>
                                            <p:fltVal val="90"/>
                                          </p:val>
                                        </p:tav>
                                        <p:tav tm="100000">
                                          <p:val>
                                            <p:fltVal val="0"/>
                                          </p:val>
                                        </p:tav>
                                      </p:tavLst>
                                    </p:anim>
                                    <p:animEffect transition="in" filter="fade">
                                      <p:cBhvr>
                                        <p:cTn id="17" dur="10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1000"/>
                                        <p:tgtEl>
                                          <p:spTgt spid="26"/>
                                        </p:tgtEl>
                                      </p:cBhvr>
                                    </p:animEffect>
                                    <p:anim calcmode="lin" valueType="num">
                                      <p:cBhvr>
                                        <p:cTn id="30" dur="1000" fill="hold"/>
                                        <p:tgtEl>
                                          <p:spTgt spid="26"/>
                                        </p:tgtEl>
                                        <p:attrNameLst>
                                          <p:attrName>ppt_x</p:attrName>
                                        </p:attrNameLst>
                                      </p:cBhvr>
                                      <p:tavLst>
                                        <p:tav tm="0">
                                          <p:val>
                                            <p:strVal val="#ppt_x"/>
                                          </p:val>
                                        </p:tav>
                                        <p:tav tm="100000">
                                          <p:val>
                                            <p:strVal val="#ppt_x"/>
                                          </p:val>
                                        </p:tav>
                                      </p:tavLst>
                                    </p:anim>
                                    <p:anim calcmode="lin" valueType="num">
                                      <p:cBhvr>
                                        <p:cTn id="31"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1000"/>
                                        <p:tgtEl>
                                          <p:spTgt spid="27"/>
                                        </p:tgtEl>
                                      </p:cBhvr>
                                    </p:animEffect>
                                    <p:anim calcmode="lin" valueType="num">
                                      <p:cBhvr>
                                        <p:cTn id="37" dur="1000" fill="hold"/>
                                        <p:tgtEl>
                                          <p:spTgt spid="27"/>
                                        </p:tgtEl>
                                        <p:attrNameLst>
                                          <p:attrName>ppt_x</p:attrName>
                                        </p:attrNameLst>
                                      </p:cBhvr>
                                      <p:tavLst>
                                        <p:tav tm="0">
                                          <p:val>
                                            <p:strVal val="#ppt_x"/>
                                          </p:val>
                                        </p:tav>
                                        <p:tav tm="100000">
                                          <p:val>
                                            <p:strVal val="#ppt_x"/>
                                          </p:val>
                                        </p:tav>
                                      </p:tavLst>
                                    </p:anim>
                                    <p:anim calcmode="lin" valueType="num">
                                      <p:cBhvr>
                                        <p:cTn id="3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1000"/>
                                        <p:tgtEl>
                                          <p:spTgt spid="28"/>
                                        </p:tgtEl>
                                      </p:cBhvr>
                                    </p:animEffect>
                                    <p:anim calcmode="lin" valueType="num">
                                      <p:cBhvr>
                                        <p:cTn id="44" dur="1000" fill="hold"/>
                                        <p:tgtEl>
                                          <p:spTgt spid="28"/>
                                        </p:tgtEl>
                                        <p:attrNameLst>
                                          <p:attrName>ppt_x</p:attrName>
                                        </p:attrNameLst>
                                      </p:cBhvr>
                                      <p:tavLst>
                                        <p:tav tm="0">
                                          <p:val>
                                            <p:strVal val="#ppt_x"/>
                                          </p:val>
                                        </p:tav>
                                        <p:tav tm="100000">
                                          <p:val>
                                            <p:strVal val="#ppt_x"/>
                                          </p:val>
                                        </p:tav>
                                      </p:tavLst>
                                    </p:anim>
                                    <p:anim calcmode="lin" valueType="num">
                                      <p:cBhvr>
                                        <p:cTn id="4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P spid="25" grpId="0" animBg="1"/>
      <p:bldP spid="26" grpId="0" animBg="1"/>
      <p:bldP spid="27"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6">
            <a:extLst>
              <a:ext uri="{FF2B5EF4-FFF2-40B4-BE49-F238E27FC236}">
                <a16:creationId xmlns:a16="http://schemas.microsoft.com/office/drawing/2014/main" id="{08B25958-FB96-4329-9207-5207919AE353}"/>
              </a:ext>
            </a:extLst>
          </p:cNvPr>
          <p:cNvSpPr/>
          <p:nvPr/>
        </p:nvSpPr>
        <p:spPr>
          <a:xfrm>
            <a:off x="172038" y="92454"/>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5" name="Rounded Rectangle 4"/>
          <p:cNvSpPr/>
          <p:nvPr/>
        </p:nvSpPr>
        <p:spPr>
          <a:xfrm>
            <a:off x="2704564" y="800653"/>
            <a:ext cx="6344864" cy="576931"/>
          </a:xfrm>
          <a:prstGeom prst="roundRect">
            <a:avLst/>
          </a:prstGeom>
          <a:solidFill>
            <a:srgbClr val="92D050"/>
          </a:solidFill>
        </p:spPr>
        <p:style>
          <a:lnRef idx="2">
            <a:schemeClr val="dk1"/>
          </a:lnRef>
          <a:fillRef idx="1">
            <a:schemeClr val="lt1"/>
          </a:fillRef>
          <a:effectRef idx="0">
            <a:schemeClr val="dk1"/>
          </a:effectRef>
          <a:fontRef idx="minor">
            <a:schemeClr val="dk1"/>
          </a:fontRef>
        </p:style>
        <p:txBody>
          <a:bodyPr rtlCol="0" anchor="ctr"/>
          <a:lstStyle/>
          <a:p>
            <a:pPr algn="ctr"/>
            <a:endParaRPr lang="ar-BH" dirty="0"/>
          </a:p>
          <a:p>
            <a:pPr algn="ctr"/>
            <a:r>
              <a:rPr lang="ar-BH" sz="2600" b="1" dirty="0">
                <a:latin typeface="Sakkal Majalla" panose="02000000000000000000" pitchFamily="2" charset="-78"/>
                <a:cs typeface="Sakkal Majalla" panose="02000000000000000000" pitchFamily="2" charset="-78"/>
              </a:rPr>
              <a:t>الآثار الناتجة عن استعمال وسائل التواصل الاجتماعي الحديثة</a:t>
            </a:r>
            <a:endParaRPr lang="en-US" sz="2600" b="1" dirty="0">
              <a:latin typeface="Sakkal Majalla" panose="02000000000000000000" pitchFamily="2" charset="-78"/>
              <a:cs typeface="Sakkal Majalla" panose="02000000000000000000" pitchFamily="2" charset="-78"/>
            </a:endParaRPr>
          </a:p>
          <a:p>
            <a:pPr algn="ctr"/>
            <a:endParaRPr lang="en-US" dirty="0"/>
          </a:p>
        </p:txBody>
      </p:sp>
      <p:sp>
        <p:nvSpPr>
          <p:cNvPr id="6" name="Rectangle 5"/>
          <p:cNvSpPr/>
          <p:nvPr/>
        </p:nvSpPr>
        <p:spPr>
          <a:xfrm>
            <a:off x="8433735" y="1501061"/>
            <a:ext cx="2734173" cy="465709"/>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rtl="1"/>
            <a:r>
              <a:rPr lang="ar-BH" sz="2400" b="1" dirty="0">
                <a:latin typeface="Sakkal Majalla" panose="02000000000000000000" pitchFamily="2" charset="-78"/>
                <a:cs typeface="Sakkal Majalla" panose="02000000000000000000" pitchFamily="2" charset="-78"/>
              </a:rPr>
              <a:t>الانحراف الفكري والثقافي:</a:t>
            </a:r>
            <a:endParaRPr lang="en-US" sz="2400" b="1" dirty="0">
              <a:latin typeface="Sakkal Majalla" panose="02000000000000000000" pitchFamily="2" charset="-78"/>
              <a:cs typeface="Sakkal Majalla" panose="02000000000000000000" pitchFamily="2" charset="-78"/>
            </a:endParaRPr>
          </a:p>
        </p:txBody>
      </p:sp>
      <p:sp>
        <p:nvSpPr>
          <p:cNvPr id="7" name="Rectangle 6"/>
          <p:cNvSpPr/>
          <p:nvPr/>
        </p:nvSpPr>
        <p:spPr>
          <a:xfrm>
            <a:off x="7920507" y="2323616"/>
            <a:ext cx="3760631" cy="1282469"/>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rgbClr val="FF0000"/>
                </a:solidFill>
                <a:latin typeface="Sakkal Majalla" panose="02000000000000000000" pitchFamily="2" charset="-78"/>
                <a:cs typeface="Sakkal Majalla" panose="02000000000000000000" pitchFamily="2" charset="-78"/>
              </a:rPr>
              <a:t>ترويج الإشاعات: </a:t>
            </a:r>
            <a:r>
              <a:rPr lang="ar-BH" sz="2400" b="1" dirty="0">
                <a:solidFill>
                  <a:schemeClr val="tx1"/>
                </a:solidFill>
                <a:latin typeface="Sakkal Majalla" panose="02000000000000000000" pitchFamily="2" charset="-78"/>
                <a:cs typeface="Sakkal Majalla" panose="02000000000000000000" pitchFamily="2" charset="-78"/>
              </a:rPr>
              <a:t>عبر الانسياق لمعلومات غير مؤكدة، أو خاطئة، وتداولها بالنشر والتهويل؛ لأغراض الدعاية والابتزاز.</a:t>
            </a:r>
          </a:p>
        </p:txBody>
      </p:sp>
      <p:sp>
        <p:nvSpPr>
          <p:cNvPr id="8" name="Rectangle 7"/>
          <p:cNvSpPr/>
          <p:nvPr/>
        </p:nvSpPr>
        <p:spPr>
          <a:xfrm>
            <a:off x="7920507" y="3794874"/>
            <a:ext cx="3760631" cy="1562737"/>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rgbClr val="FF0000"/>
                </a:solidFill>
                <a:latin typeface="Sakkal Majalla" panose="02000000000000000000" pitchFamily="2" charset="-78"/>
                <a:cs typeface="Sakkal Majalla" panose="02000000000000000000" pitchFamily="2" charset="-78"/>
              </a:rPr>
              <a:t>التطرف: </a:t>
            </a:r>
            <a:r>
              <a:rPr lang="ar-BH" sz="2400" b="1" dirty="0">
                <a:latin typeface="Sakkal Majalla" panose="02000000000000000000" pitchFamily="2" charset="-78"/>
                <a:cs typeface="Sakkal Majalla" panose="02000000000000000000" pitchFamily="2" charset="-78"/>
              </a:rPr>
              <a:t>عبر إثارة الكراهيّة العصبيّة، ونبذ التعايش والتعدديّة؛ من خلال استفزاز الآخرين في أفكارهم ومعتقداتهم وأصولهم.</a:t>
            </a:r>
            <a:endParaRPr lang="en-US" sz="2400" b="1" dirty="0">
              <a:latin typeface="Sakkal Majalla" panose="02000000000000000000" pitchFamily="2" charset="-78"/>
              <a:cs typeface="Sakkal Majalla" panose="02000000000000000000" pitchFamily="2" charset="-78"/>
            </a:endParaRPr>
          </a:p>
        </p:txBody>
      </p:sp>
      <p:sp>
        <p:nvSpPr>
          <p:cNvPr id="9" name="Rectangle 8"/>
          <p:cNvSpPr/>
          <p:nvPr/>
        </p:nvSpPr>
        <p:spPr>
          <a:xfrm>
            <a:off x="7920507" y="5523123"/>
            <a:ext cx="3760631" cy="774646"/>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r" rtl="1"/>
            <a:r>
              <a:rPr lang="ar-BH" sz="2400" b="1" dirty="0">
                <a:solidFill>
                  <a:srgbClr val="FF0000"/>
                </a:solidFill>
                <a:latin typeface="Sakkal Majalla" panose="02000000000000000000" pitchFamily="2" charset="-78"/>
                <a:cs typeface="Sakkal Majalla" panose="02000000000000000000" pitchFamily="2" charset="-78"/>
              </a:rPr>
              <a:t>الإرهاب: </a:t>
            </a:r>
            <a:r>
              <a:rPr lang="ar-BH" sz="2400" b="1" dirty="0">
                <a:solidFill>
                  <a:schemeClr val="tx1"/>
                </a:solidFill>
                <a:latin typeface="Sakkal Majalla" panose="02000000000000000000" pitchFamily="2" charset="-78"/>
                <a:cs typeface="Sakkal Majalla" panose="02000000000000000000" pitchFamily="2" charset="-78"/>
              </a:rPr>
              <a:t>عبر </a:t>
            </a:r>
            <a:r>
              <a:rPr lang="ar-BH" sz="2400" b="1" dirty="0">
                <a:latin typeface="Sakkal Majalla" panose="02000000000000000000" pitchFamily="2" charset="-78"/>
                <a:cs typeface="Sakkal Majalla" panose="02000000000000000000" pitchFamily="2" charset="-78"/>
              </a:rPr>
              <a:t>الانجرار وراء الأفكار الهدامة</a:t>
            </a:r>
            <a:r>
              <a:rPr lang="ar-BH" sz="2000" b="1" dirty="0">
                <a:latin typeface="Sakkal Majalla" panose="02000000000000000000" pitchFamily="2" charset="-78"/>
                <a:cs typeface="Sakkal Majalla" panose="02000000000000000000" pitchFamily="2" charset="-78"/>
              </a:rPr>
              <a:t>.</a:t>
            </a:r>
            <a:endParaRPr lang="en-US" sz="2000" b="1" dirty="0">
              <a:latin typeface="Sakkal Majalla" panose="02000000000000000000" pitchFamily="2" charset="-78"/>
              <a:cs typeface="Sakkal Majalla" panose="02000000000000000000" pitchFamily="2" charset="-78"/>
            </a:endParaRPr>
          </a:p>
        </p:txBody>
      </p:sp>
      <p:sp>
        <p:nvSpPr>
          <p:cNvPr id="10" name="Rectangle 9"/>
          <p:cNvSpPr/>
          <p:nvPr/>
        </p:nvSpPr>
        <p:spPr>
          <a:xfrm>
            <a:off x="2282346" y="1500402"/>
            <a:ext cx="2415654" cy="466009"/>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الجرائم الإلكترونية:</a:t>
            </a:r>
            <a:endParaRPr lang="en-US" sz="2000" b="1" dirty="0">
              <a:latin typeface="Sakkal Majalla" panose="02000000000000000000" pitchFamily="2" charset="-78"/>
              <a:cs typeface="Sakkal Majalla" panose="02000000000000000000" pitchFamily="2" charset="-78"/>
            </a:endParaRPr>
          </a:p>
        </p:txBody>
      </p:sp>
      <p:sp>
        <p:nvSpPr>
          <p:cNvPr id="11" name="Rectangle 10"/>
          <p:cNvSpPr/>
          <p:nvPr/>
        </p:nvSpPr>
        <p:spPr>
          <a:xfrm>
            <a:off x="172038" y="2060234"/>
            <a:ext cx="7001494" cy="748600"/>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rgbClr val="FF0000"/>
                </a:solidFill>
                <a:latin typeface="Sakkal Majalla" panose="02000000000000000000" pitchFamily="2" charset="-78"/>
                <a:cs typeface="Sakkal Majalla" panose="02000000000000000000" pitchFamily="2" charset="-78"/>
              </a:rPr>
              <a:t>الاحتيال والنصب: </a:t>
            </a:r>
            <a:r>
              <a:rPr lang="ar-BH" sz="2400" b="1" dirty="0">
                <a:latin typeface="Sakkal Majalla" panose="02000000000000000000" pitchFamily="2" charset="-78"/>
                <a:cs typeface="Sakkal Majalla" panose="02000000000000000000" pitchFamily="2" charset="-78"/>
              </a:rPr>
              <a:t>ترويج وانتحال صفات أفراد ومؤسسات؛ لأجل أغراض الدعاية والابتزاز.</a:t>
            </a:r>
            <a:endParaRPr lang="en-US" sz="2400" b="1" dirty="0">
              <a:latin typeface="Sakkal Majalla" panose="02000000000000000000" pitchFamily="2" charset="-78"/>
              <a:cs typeface="Sakkal Majalla" panose="02000000000000000000" pitchFamily="2" charset="-78"/>
            </a:endParaRPr>
          </a:p>
        </p:txBody>
      </p:sp>
      <p:sp>
        <p:nvSpPr>
          <p:cNvPr id="12" name="Rectangle 11"/>
          <p:cNvSpPr/>
          <p:nvPr/>
        </p:nvSpPr>
        <p:spPr>
          <a:xfrm>
            <a:off x="172039" y="2922833"/>
            <a:ext cx="7001494" cy="1516453"/>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rgbClr val="FF0000"/>
                </a:solidFill>
                <a:latin typeface="Sakkal Majalla" panose="02000000000000000000" pitchFamily="2" charset="-78"/>
                <a:cs typeface="Sakkal Majalla" panose="02000000000000000000" pitchFamily="2" charset="-78"/>
              </a:rPr>
              <a:t>السرقات الإلكترونية: </a:t>
            </a:r>
            <a:r>
              <a:rPr lang="ar-BH" sz="2400" b="1" dirty="0">
                <a:latin typeface="Sakkal Majalla" panose="02000000000000000000" pitchFamily="2" charset="-78"/>
                <a:cs typeface="Sakkal Majalla" panose="02000000000000000000" pitchFamily="2" charset="-78"/>
              </a:rPr>
              <a:t>الاستيلاء على حقوق الملكيّة، أو المواقع أو الحسابات الإلكترونية، أو معلومات بطاقات الائتمان وإجراء تحويلات مالية</a:t>
            </a:r>
            <a:r>
              <a:rPr lang="ar-BH" sz="2400" b="1" dirty="0">
                <a:solidFill>
                  <a:srgbClr val="FF0000"/>
                </a:solidFill>
                <a:latin typeface="Sakkal Majalla" panose="02000000000000000000" pitchFamily="2" charset="-78"/>
                <a:cs typeface="Sakkal Majalla" panose="02000000000000000000" pitchFamily="2" charset="-78"/>
              </a:rPr>
              <a:t>، واختراق اختراق المواقع الإلكترونية:</a:t>
            </a:r>
            <a:r>
              <a:rPr lang="ar-BH" sz="2400" b="1" dirty="0">
                <a:latin typeface="Sakkal Majalla" panose="02000000000000000000" pitchFamily="2" charset="-78"/>
                <a:cs typeface="Sakkal Majalla" panose="02000000000000000000" pitchFamily="2" charset="-78"/>
              </a:rPr>
              <a:t>،اقتحام المواقع والحسابات الإلكترونية بوسائل غير تقليدية، و هتك حرمة أسرار الفراد والمؤسسات وخصوصياتهم...</a:t>
            </a:r>
            <a:endParaRPr lang="en-US" sz="2400" b="1" dirty="0">
              <a:latin typeface="Sakkal Majalla" panose="02000000000000000000" pitchFamily="2" charset="-78"/>
              <a:cs typeface="Sakkal Majalla" panose="02000000000000000000" pitchFamily="2" charset="-78"/>
            </a:endParaRPr>
          </a:p>
        </p:txBody>
      </p:sp>
      <p:sp>
        <p:nvSpPr>
          <p:cNvPr id="13" name="Rectangle 12"/>
          <p:cNvSpPr/>
          <p:nvPr/>
        </p:nvSpPr>
        <p:spPr>
          <a:xfrm>
            <a:off x="172039" y="4551358"/>
            <a:ext cx="7001494" cy="857766"/>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rgbClr val="FF0000"/>
                </a:solidFill>
                <a:latin typeface="Sakkal Majalla" panose="02000000000000000000" pitchFamily="2" charset="-78"/>
                <a:cs typeface="Sakkal Majalla" panose="02000000000000000000" pitchFamily="2" charset="-78"/>
              </a:rPr>
              <a:t>القرصنة الإلكترونية: </a:t>
            </a:r>
            <a:r>
              <a:rPr lang="ar-BH" sz="2400" b="1" dirty="0">
                <a:latin typeface="Sakkal Majalla" panose="02000000000000000000" pitchFamily="2" charset="-78"/>
                <a:cs typeface="Sakkal Majalla" panose="02000000000000000000" pitchFamily="2" charset="-78"/>
              </a:rPr>
              <a:t>اختراق مواقع الحكومات والمؤسّسات المهمّة، وممارسة التنصت، وإفشاء أو تدمير البنية المعلوماتيّة فيها.</a:t>
            </a:r>
            <a:endParaRPr lang="en-US" sz="2400" b="1" dirty="0">
              <a:latin typeface="Sakkal Majalla" panose="02000000000000000000" pitchFamily="2" charset="-78"/>
              <a:cs typeface="Sakkal Majalla" panose="02000000000000000000" pitchFamily="2" charset="-78"/>
            </a:endParaRPr>
          </a:p>
        </p:txBody>
      </p:sp>
      <p:sp>
        <p:nvSpPr>
          <p:cNvPr id="14" name="Rectangle 13"/>
          <p:cNvSpPr/>
          <p:nvPr/>
        </p:nvSpPr>
        <p:spPr>
          <a:xfrm>
            <a:off x="172039" y="5523123"/>
            <a:ext cx="7001494" cy="774646"/>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r" rtl="1"/>
            <a:r>
              <a:rPr lang="ar-BH" sz="2400" b="1" dirty="0">
                <a:solidFill>
                  <a:srgbClr val="FF0000"/>
                </a:solidFill>
                <a:latin typeface="Sakkal Majalla" panose="02000000000000000000" pitchFamily="2" charset="-78"/>
                <a:cs typeface="Sakkal Majalla" panose="02000000000000000000" pitchFamily="2" charset="-78"/>
              </a:rPr>
              <a:t>التشهير والمطاردة الإلكترونية: </a:t>
            </a:r>
            <a:r>
              <a:rPr lang="ar-BH" sz="2400" b="1" dirty="0">
                <a:latin typeface="Sakkal Majalla" panose="02000000000000000000" pitchFamily="2" charset="-78"/>
                <a:cs typeface="Sakkal Majalla" panose="02000000000000000000" pitchFamily="2" charset="-78"/>
              </a:rPr>
              <a:t>التعقّب ونشر المعلومات بأساليب صادمة وتهديدية لأجل الانتقام أو الدعاية </a:t>
            </a:r>
            <a:r>
              <a:rPr lang="ar-BH" sz="2400" b="1" dirty="0" err="1">
                <a:latin typeface="Sakkal Majalla" panose="02000000000000000000" pitchFamily="2" charset="-78"/>
                <a:cs typeface="Sakkal Majalla" panose="02000000000000000000" pitchFamily="2" charset="-78"/>
              </a:rPr>
              <a:t>أوالابتزاز</a:t>
            </a:r>
            <a:r>
              <a:rPr lang="ar-BH" sz="2400" b="1" dirty="0">
                <a:latin typeface="Sakkal Majalla" panose="02000000000000000000" pitchFamily="2" charset="-78"/>
                <a:cs typeface="Sakkal Majalla" panose="02000000000000000000" pitchFamily="2" charset="-78"/>
              </a:rPr>
              <a:t>...</a:t>
            </a:r>
            <a:endParaRPr lang="en-US" sz="24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1916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arn(inVertical)">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000"/>
                                        <p:tgtEl>
                                          <p:spTgt spid="12"/>
                                        </p:tgtEl>
                                      </p:cBhvr>
                                    </p:animEffect>
                                    <p:anim calcmode="lin" valueType="num">
                                      <p:cBhvr>
                                        <p:cTn id="54" dur="1000" fill="hold"/>
                                        <p:tgtEl>
                                          <p:spTgt spid="12"/>
                                        </p:tgtEl>
                                        <p:attrNameLst>
                                          <p:attrName>ppt_x</p:attrName>
                                        </p:attrNameLst>
                                      </p:cBhvr>
                                      <p:tavLst>
                                        <p:tav tm="0">
                                          <p:val>
                                            <p:strVal val="#ppt_x"/>
                                          </p:val>
                                        </p:tav>
                                        <p:tav tm="100000">
                                          <p:val>
                                            <p:strVal val="#ppt_x"/>
                                          </p:val>
                                        </p:tav>
                                      </p:tavLst>
                                    </p:anim>
                                    <p:anim calcmode="lin" valueType="num">
                                      <p:cBhvr>
                                        <p:cTn id="5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1000"/>
                                        <p:tgtEl>
                                          <p:spTgt spid="13"/>
                                        </p:tgtEl>
                                      </p:cBhvr>
                                    </p:animEffect>
                                    <p:anim calcmode="lin" valueType="num">
                                      <p:cBhvr>
                                        <p:cTn id="61" dur="1000" fill="hold"/>
                                        <p:tgtEl>
                                          <p:spTgt spid="13"/>
                                        </p:tgtEl>
                                        <p:attrNameLst>
                                          <p:attrName>ppt_x</p:attrName>
                                        </p:attrNameLst>
                                      </p:cBhvr>
                                      <p:tavLst>
                                        <p:tav tm="0">
                                          <p:val>
                                            <p:strVal val="#ppt_x"/>
                                          </p:val>
                                        </p:tav>
                                        <p:tav tm="100000">
                                          <p:val>
                                            <p:strVal val="#ppt_x"/>
                                          </p:val>
                                        </p:tav>
                                      </p:tavLst>
                                    </p:anim>
                                    <p:anim calcmode="lin" valueType="num">
                                      <p:cBhvr>
                                        <p:cTn id="6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6">
            <a:extLst>
              <a:ext uri="{FF2B5EF4-FFF2-40B4-BE49-F238E27FC236}">
                <a16:creationId xmlns:a16="http://schemas.microsoft.com/office/drawing/2014/main" id="{08B25958-FB96-4329-9207-5207919AE353}"/>
              </a:ext>
            </a:extLst>
          </p:cNvPr>
          <p:cNvSpPr/>
          <p:nvPr/>
        </p:nvSpPr>
        <p:spPr>
          <a:xfrm>
            <a:off x="172038" y="92454"/>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5" name="Rounded Rectangle 4"/>
          <p:cNvSpPr/>
          <p:nvPr/>
        </p:nvSpPr>
        <p:spPr>
          <a:xfrm>
            <a:off x="2678807" y="1045210"/>
            <a:ext cx="6344864" cy="576931"/>
          </a:xfrm>
          <a:prstGeom prst="roundRect">
            <a:avLst/>
          </a:prstGeom>
          <a:solidFill>
            <a:srgbClr val="92D050"/>
          </a:solidFill>
        </p:spPr>
        <p:style>
          <a:lnRef idx="2">
            <a:schemeClr val="dk1"/>
          </a:lnRef>
          <a:fillRef idx="1">
            <a:schemeClr val="lt1"/>
          </a:fillRef>
          <a:effectRef idx="0">
            <a:schemeClr val="dk1"/>
          </a:effectRef>
          <a:fontRef idx="minor">
            <a:schemeClr val="dk1"/>
          </a:fontRef>
        </p:style>
        <p:txBody>
          <a:bodyPr rtlCol="0" anchor="ctr"/>
          <a:lstStyle/>
          <a:p>
            <a:pPr algn="ctr"/>
            <a:endParaRPr lang="ar-BH" dirty="0"/>
          </a:p>
          <a:p>
            <a:pPr algn="ctr"/>
            <a:r>
              <a:rPr lang="ar-BH" sz="2600" b="1" dirty="0">
                <a:latin typeface="Sakkal Majalla" panose="02000000000000000000" pitchFamily="2" charset="-78"/>
                <a:cs typeface="Sakkal Majalla" panose="02000000000000000000" pitchFamily="2" charset="-78"/>
              </a:rPr>
              <a:t>الآثار الناتجة عن استعمال وسائل التواصل الاجتماعي الحديثة</a:t>
            </a:r>
            <a:endParaRPr lang="en-US" sz="2600" b="1" dirty="0">
              <a:latin typeface="Sakkal Majalla" panose="02000000000000000000" pitchFamily="2" charset="-78"/>
              <a:cs typeface="Sakkal Majalla" panose="02000000000000000000" pitchFamily="2" charset="-78"/>
            </a:endParaRPr>
          </a:p>
          <a:p>
            <a:pPr algn="ctr"/>
            <a:endParaRPr lang="en-US" dirty="0"/>
          </a:p>
        </p:txBody>
      </p:sp>
      <p:sp>
        <p:nvSpPr>
          <p:cNvPr id="10" name="Rectangle 9"/>
          <p:cNvSpPr/>
          <p:nvPr/>
        </p:nvSpPr>
        <p:spPr>
          <a:xfrm>
            <a:off x="4101106" y="1815922"/>
            <a:ext cx="3551780" cy="689784"/>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إدمان وسائل التواصل الاجتماعي:</a:t>
            </a:r>
            <a:endParaRPr lang="en-US" sz="2000" b="1" dirty="0">
              <a:latin typeface="Sakkal Majalla" panose="02000000000000000000" pitchFamily="2" charset="-78"/>
              <a:cs typeface="Sakkal Majalla" panose="02000000000000000000" pitchFamily="2" charset="-78"/>
            </a:endParaRPr>
          </a:p>
        </p:txBody>
      </p:sp>
      <p:sp>
        <p:nvSpPr>
          <p:cNvPr id="11" name="Rectangle 10"/>
          <p:cNvSpPr/>
          <p:nvPr/>
        </p:nvSpPr>
        <p:spPr>
          <a:xfrm>
            <a:off x="2200078" y="2652661"/>
            <a:ext cx="7353836" cy="2576161"/>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chemeClr val="tx1"/>
                </a:solidFill>
                <a:latin typeface="Sakkal Majalla" panose="02000000000000000000" pitchFamily="2" charset="-78"/>
                <a:cs typeface="Sakkal Majalla" panose="02000000000000000000" pitchFamily="2" charset="-78"/>
              </a:rPr>
              <a:t>انهماك الشاب لأوقات طويلة أمام أجهزة التواصل الاجتماعي، وذلك على حساب الأنشطة الأخرى التي يجب أن يُعنى بها، فتفقده الإرادة الحرة والواعية في التعامل مع ما تنشره هذه الوسائل، وتعرّضه لمشكلات صحيّة واجتماعية وغيرها. </a:t>
            </a:r>
            <a:endParaRPr lang="en-US" sz="2400" b="1" dirty="0">
              <a:solidFill>
                <a:schemeClr val="tx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7473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inVertical)">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anim calcmode="lin" valueType="num">
                                      <p:cBhvr>
                                        <p:cTn id="21" dur="1000" fill="hold"/>
                                        <p:tgtEl>
                                          <p:spTgt spid="11"/>
                                        </p:tgtEl>
                                        <p:attrNameLst>
                                          <p:attrName>ppt_x</p:attrName>
                                        </p:attrNameLst>
                                      </p:cBhvr>
                                      <p:tavLst>
                                        <p:tav tm="0">
                                          <p:val>
                                            <p:strVal val="#ppt_x"/>
                                          </p:val>
                                        </p:tav>
                                        <p:tav tm="100000">
                                          <p:val>
                                            <p:strVal val="#ppt_x"/>
                                          </p:val>
                                        </p:tav>
                                      </p:tavLst>
                                    </p:anim>
                                    <p:anim calcmode="lin" valueType="num">
                                      <p:cBhvr>
                                        <p:cTn id="2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ounded Rectangle 32"/>
          <p:cNvSpPr/>
          <p:nvPr/>
        </p:nvSpPr>
        <p:spPr>
          <a:xfrm>
            <a:off x="7997782" y="233131"/>
            <a:ext cx="3773511" cy="1028999"/>
          </a:xfrm>
          <a:prstGeom prst="roundRect">
            <a:avLst/>
          </a:prstGeom>
          <a:solidFill>
            <a:schemeClr val="accent4">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BH" sz="2800" b="1" dirty="0">
                <a:solidFill>
                  <a:schemeClr val="tx1"/>
                </a:solidFill>
                <a:latin typeface="Sakkal Majalla" panose="02000000000000000000" pitchFamily="2" charset="-78"/>
                <a:cs typeface="Sakkal Majalla" panose="02000000000000000000" pitchFamily="2" charset="-78"/>
              </a:rPr>
              <a:t>ثانياً: معالجة قضايا الشباب:</a:t>
            </a:r>
          </a:p>
          <a:p>
            <a:pPr algn="ctr" rtl="1"/>
            <a:r>
              <a:rPr lang="ar-BH" sz="2800" b="1" dirty="0">
                <a:solidFill>
                  <a:schemeClr val="tx1"/>
                </a:solidFill>
                <a:latin typeface="Sakkal Majalla" panose="02000000000000000000" pitchFamily="2" charset="-78"/>
                <a:cs typeface="Sakkal Majalla" panose="02000000000000000000" pitchFamily="2" charset="-78"/>
              </a:rPr>
              <a:t>(مملكة البحرين نموذجًا)</a:t>
            </a:r>
            <a:endParaRPr lang="en-US" sz="2800" dirty="0">
              <a:solidFill>
                <a:schemeClr val="tx1"/>
              </a:solidFill>
              <a:latin typeface="Sakkal Majalla" panose="02000000000000000000" pitchFamily="2" charset="-78"/>
              <a:cs typeface="Sakkal Majalla" panose="02000000000000000000" pitchFamily="2" charset="-78"/>
            </a:endParaRPr>
          </a:p>
        </p:txBody>
      </p:sp>
      <p:sp>
        <p:nvSpPr>
          <p:cNvPr id="34" name="مستطيل 6">
            <a:extLst>
              <a:ext uri="{FF2B5EF4-FFF2-40B4-BE49-F238E27FC236}">
                <a16:creationId xmlns:a16="http://schemas.microsoft.com/office/drawing/2014/main" id="{08B25958-FB96-4329-9207-5207919AE353}"/>
              </a:ext>
            </a:extLst>
          </p:cNvPr>
          <p:cNvSpPr/>
          <p:nvPr/>
        </p:nvSpPr>
        <p:spPr>
          <a:xfrm>
            <a:off x="172038" y="92454"/>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2" name="Oval 1"/>
          <p:cNvSpPr/>
          <p:nvPr/>
        </p:nvSpPr>
        <p:spPr>
          <a:xfrm>
            <a:off x="4776716" y="1232278"/>
            <a:ext cx="3221066" cy="1326524"/>
          </a:xfrm>
          <a:prstGeom prst="ellipse">
            <a:avLst/>
          </a:prstGeom>
          <a:solidFill>
            <a:srgbClr val="E4AED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pPr algn="ctr" rtl="1"/>
            <a:r>
              <a:rPr lang="ar-BH" sz="2800" b="1" dirty="0">
                <a:latin typeface="Sakkal Majalla" panose="02000000000000000000" pitchFamily="2" charset="-78"/>
                <a:cs typeface="Sakkal Majalla" panose="02000000000000000000" pitchFamily="2" charset="-78"/>
              </a:rPr>
              <a:t>1.</a:t>
            </a:r>
            <a:r>
              <a:rPr lang="ar-SA" sz="2800" b="1" dirty="0">
                <a:latin typeface="Sakkal Majalla" panose="02000000000000000000" pitchFamily="2" charset="-78"/>
                <a:cs typeface="Sakkal Majalla" panose="02000000000000000000" pitchFamily="2" charset="-78"/>
              </a:rPr>
              <a:t>التحصين الذاتي والمجتمعي:</a:t>
            </a:r>
            <a:endParaRPr lang="en-US" sz="2800" dirty="0">
              <a:latin typeface="Sakkal Majalla" panose="02000000000000000000" pitchFamily="2" charset="-78"/>
              <a:cs typeface="Sakkal Majalla" panose="02000000000000000000" pitchFamily="2" charset="-78"/>
            </a:endParaRPr>
          </a:p>
        </p:txBody>
      </p:sp>
      <p:sp>
        <p:nvSpPr>
          <p:cNvPr id="3" name="Rectangle 2"/>
          <p:cNvSpPr/>
          <p:nvPr/>
        </p:nvSpPr>
        <p:spPr>
          <a:xfrm>
            <a:off x="5174088" y="2833353"/>
            <a:ext cx="2131456" cy="850005"/>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معنى</a:t>
            </a:r>
            <a:r>
              <a:rPr lang="ar-SA" sz="2400" b="1" dirty="0">
                <a:latin typeface="Sakkal Majalla" panose="02000000000000000000" pitchFamily="2" charset="-78"/>
                <a:cs typeface="Sakkal Majalla" panose="02000000000000000000" pitchFamily="2" charset="-78"/>
              </a:rPr>
              <a:t> التحصين الذاتي والمجتمعي</a:t>
            </a:r>
            <a:r>
              <a:rPr lang="ar-BH" sz="2400" b="1" dirty="0">
                <a:latin typeface="Sakkal Majalla" panose="02000000000000000000" pitchFamily="2" charset="-78"/>
                <a:cs typeface="Sakkal Majalla" panose="02000000000000000000" pitchFamily="2" charset="-78"/>
              </a:rPr>
              <a:t> </a:t>
            </a:r>
            <a:endParaRPr lang="en-US" sz="2400" b="1" dirty="0">
              <a:latin typeface="Sakkal Majalla" panose="02000000000000000000" pitchFamily="2" charset="-78"/>
              <a:cs typeface="Sakkal Majalla" panose="02000000000000000000" pitchFamily="2" charset="-78"/>
            </a:endParaRPr>
          </a:p>
        </p:txBody>
      </p:sp>
      <p:sp>
        <p:nvSpPr>
          <p:cNvPr id="35" name="Rectangle 34"/>
          <p:cNvSpPr/>
          <p:nvPr/>
        </p:nvSpPr>
        <p:spPr>
          <a:xfrm>
            <a:off x="2915001" y="3957909"/>
            <a:ext cx="6649630" cy="850005"/>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BH" sz="2400" b="1" dirty="0">
                <a:latin typeface="Sakkal Majalla" panose="02000000000000000000" pitchFamily="2" charset="-78"/>
                <a:cs typeface="Sakkal Majalla" panose="02000000000000000000" pitchFamily="2" charset="-78"/>
              </a:rPr>
              <a:t>هو جملة الأنشطة والتدابير التي يتخذها الفرد أو المجتمع للحماية من كل المؤثّرات الخارجيّة التي قد تستنزف طاقات الشباب ومهاراتهم.</a:t>
            </a:r>
            <a:endParaRPr lang="en-US" sz="24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93906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circle(in)">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anim calcmode="lin" valueType="num">
                                      <p:cBhvr>
                                        <p:cTn id="13" dur="2000" fill="hold"/>
                                        <p:tgtEl>
                                          <p:spTgt spid="2"/>
                                        </p:tgtEl>
                                        <p:attrNameLst>
                                          <p:attrName>ppt_w</p:attrName>
                                        </p:attrNameLst>
                                      </p:cBhvr>
                                      <p:tavLst>
                                        <p:tav tm="0" fmla="#ppt_w*sin(2.5*pi*$)">
                                          <p:val>
                                            <p:fltVal val="0"/>
                                          </p:val>
                                        </p:tav>
                                        <p:tav tm="100000">
                                          <p:val>
                                            <p:fltVal val="1"/>
                                          </p:val>
                                        </p:tav>
                                      </p:tavLst>
                                    </p:anim>
                                    <p:anim calcmode="lin" valueType="num">
                                      <p:cBhvr>
                                        <p:cTn id="14"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1000"/>
                                        <p:tgtEl>
                                          <p:spTgt spid="35"/>
                                        </p:tgtEl>
                                      </p:cBhvr>
                                    </p:animEffect>
                                    <p:anim calcmode="lin" valueType="num">
                                      <p:cBhvr>
                                        <p:cTn id="27" dur="1000" fill="hold"/>
                                        <p:tgtEl>
                                          <p:spTgt spid="35"/>
                                        </p:tgtEl>
                                        <p:attrNameLst>
                                          <p:attrName>ppt_x</p:attrName>
                                        </p:attrNameLst>
                                      </p:cBhvr>
                                      <p:tavLst>
                                        <p:tav tm="0">
                                          <p:val>
                                            <p:strVal val="#ppt_x"/>
                                          </p:val>
                                        </p:tav>
                                        <p:tav tm="100000">
                                          <p:val>
                                            <p:strVal val="#ppt_x"/>
                                          </p:val>
                                        </p:tav>
                                      </p:tavLst>
                                    </p:anim>
                                    <p:anim calcmode="lin" valueType="num">
                                      <p:cBhvr>
                                        <p:cTn id="28"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 grpId="0" animBg="1"/>
      <p:bldP spid="3" grpId="0" animBg="1"/>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242102" y="182606"/>
            <a:ext cx="2131456" cy="850005"/>
          </a:xfrm>
          <a:prstGeom prst="rect">
            <a:avLst/>
          </a:prstGeom>
          <a:solidFill>
            <a:schemeClr val="accent6">
              <a:lumMod val="60000"/>
              <a:lumOff val="40000"/>
            </a:schemeClr>
          </a:solidFill>
          <a:ln>
            <a:solidFill>
              <a:schemeClr val="accent6">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ar-BH" sz="2400" b="1" dirty="0">
                <a:latin typeface="Sakkal Majalla" panose="02000000000000000000" pitchFamily="2" charset="-78"/>
                <a:cs typeface="Sakkal Majalla" panose="02000000000000000000" pitchFamily="2" charset="-78"/>
              </a:rPr>
              <a:t>من أشكال </a:t>
            </a:r>
            <a:r>
              <a:rPr lang="ar-SA" sz="2400" b="1" dirty="0">
                <a:latin typeface="Sakkal Majalla" panose="02000000000000000000" pitchFamily="2" charset="-78"/>
                <a:cs typeface="Sakkal Majalla" panose="02000000000000000000" pitchFamily="2" charset="-78"/>
              </a:rPr>
              <a:t>التحصين الذاتي والمجتمعي</a:t>
            </a:r>
            <a:r>
              <a:rPr lang="ar-BH" sz="2400" b="1" dirty="0">
                <a:latin typeface="Sakkal Majalla" panose="02000000000000000000" pitchFamily="2" charset="-78"/>
                <a:cs typeface="Sakkal Majalla" panose="02000000000000000000" pitchFamily="2" charset="-78"/>
              </a:rPr>
              <a:t> </a:t>
            </a:r>
            <a:endParaRPr lang="en-US" sz="2400" b="1" dirty="0">
              <a:latin typeface="Sakkal Majalla" panose="02000000000000000000" pitchFamily="2" charset="-78"/>
              <a:cs typeface="Sakkal Majalla" panose="02000000000000000000" pitchFamily="2" charset="-78"/>
            </a:endParaRPr>
          </a:p>
        </p:txBody>
      </p:sp>
      <p:sp>
        <p:nvSpPr>
          <p:cNvPr id="5" name="Rectangle 4"/>
          <p:cNvSpPr/>
          <p:nvPr/>
        </p:nvSpPr>
        <p:spPr>
          <a:xfrm>
            <a:off x="2785458" y="2116960"/>
            <a:ext cx="7044744" cy="866106"/>
          </a:xfrm>
          <a:prstGeom prst="rect">
            <a:avLst/>
          </a:prstGeom>
          <a:solidFill>
            <a:schemeClr val="accent6">
              <a:lumMod val="40000"/>
              <a:lumOff val="60000"/>
            </a:schemeClr>
          </a:solidFill>
          <a:ln>
            <a:solidFill>
              <a:schemeClr val="accent6">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SA" sz="2400" b="1" dirty="0">
                <a:latin typeface="Sakkal Majalla" panose="02000000000000000000" pitchFamily="2" charset="-78"/>
                <a:cs typeface="Sakkal Majalla" panose="02000000000000000000" pitchFamily="2" charset="-78"/>
              </a:rPr>
              <a:t>يعتمد أساساً على تنمية الوعي، وينبع ذاتيّاً </a:t>
            </a:r>
            <a:r>
              <a:rPr lang="ar-BH" sz="2400" b="1" dirty="0">
                <a:latin typeface="Sakkal Majalla" panose="02000000000000000000" pitchFamily="2" charset="-78"/>
                <a:cs typeface="Sakkal Majalla" panose="02000000000000000000" pitchFamily="2" charset="-78"/>
              </a:rPr>
              <a:t>من الفرد نفسه</a:t>
            </a:r>
            <a:r>
              <a:rPr lang="ar-SA" sz="2400" b="1" dirty="0">
                <a:latin typeface="Sakkal Majalla" panose="02000000000000000000" pitchFamily="2" charset="-78"/>
                <a:cs typeface="Sakkal Majalla" panose="02000000000000000000" pitchFamily="2" charset="-78"/>
              </a:rPr>
              <a:t>، من خلال ممارسات عمليّة، وتتمثّل في:</a:t>
            </a:r>
            <a:endParaRPr lang="en-US" sz="2400" dirty="0"/>
          </a:p>
        </p:txBody>
      </p:sp>
      <p:sp>
        <p:nvSpPr>
          <p:cNvPr id="6" name="مستطيل 6">
            <a:extLst>
              <a:ext uri="{FF2B5EF4-FFF2-40B4-BE49-F238E27FC236}">
                <a16:creationId xmlns:a16="http://schemas.microsoft.com/office/drawing/2014/main" id="{08B25958-FB96-4329-9207-5207919AE353}"/>
              </a:ext>
            </a:extLst>
          </p:cNvPr>
          <p:cNvSpPr/>
          <p:nvPr/>
        </p:nvSpPr>
        <p:spPr>
          <a:xfrm>
            <a:off x="186749" y="182606"/>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7" name="Rounded Rectangle 6"/>
          <p:cNvSpPr/>
          <p:nvPr/>
        </p:nvSpPr>
        <p:spPr>
          <a:xfrm>
            <a:off x="8995087" y="3271231"/>
            <a:ext cx="2080743" cy="2936383"/>
          </a:xfrm>
          <a:prstGeom prst="roundRect">
            <a:avLst/>
          </a:prstGeom>
          <a:solidFill>
            <a:schemeClr val="accent6">
              <a:lumMod val="20000"/>
              <a:lumOff val="80000"/>
            </a:schemeClr>
          </a:solidFill>
          <a:ln>
            <a:solidFill>
              <a:schemeClr val="accent6">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TN" sz="2600" b="1" dirty="0">
                <a:solidFill>
                  <a:srgbClr val="FF0000"/>
                </a:solidFill>
                <a:latin typeface="Sakkal Majalla" panose="02000000000000000000" pitchFamily="2" charset="-78"/>
                <a:cs typeface="Sakkal Majalla" panose="02000000000000000000" pitchFamily="2" charset="-78"/>
              </a:rPr>
              <a:t>التعلّم: </a:t>
            </a:r>
            <a:endParaRPr lang="ar-BH" sz="2600" b="1" dirty="0">
              <a:solidFill>
                <a:srgbClr val="FF0000"/>
              </a:solidFill>
              <a:latin typeface="Sakkal Majalla" panose="02000000000000000000" pitchFamily="2" charset="-78"/>
              <a:cs typeface="Sakkal Majalla" panose="02000000000000000000" pitchFamily="2" charset="-78"/>
            </a:endParaRPr>
          </a:p>
          <a:p>
            <a:pPr algn="ctr" rtl="1"/>
            <a:endParaRPr lang="ar-BH" sz="2600" b="1" dirty="0">
              <a:solidFill>
                <a:srgbClr val="FF0000"/>
              </a:solidFill>
              <a:latin typeface="Sakkal Majalla" panose="02000000000000000000" pitchFamily="2" charset="-78"/>
              <a:cs typeface="Sakkal Majalla" panose="02000000000000000000" pitchFamily="2" charset="-78"/>
            </a:endParaRPr>
          </a:p>
          <a:p>
            <a:pPr algn="justLow" rtl="1"/>
            <a:r>
              <a:rPr lang="ar-TN" sz="2400" b="1" dirty="0">
                <a:latin typeface="Sakkal Majalla" panose="02000000000000000000" pitchFamily="2" charset="-78"/>
                <a:cs typeface="Sakkal Majalla" panose="02000000000000000000" pitchFamily="2" charset="-78"/>
              </a:rPr>
              <a:t>من خلال المؤسّسات التعليميّة، </a:t>
            </a:r>
            <a:r>
              <a:rPr lang="ar-BH" sz="2400" b="1" dirty="0">
                <a:latin typeface="Sakkal Majalla" panose="02000000000000000000" pitchFamily="2" charset="-78"/>
                <a:cs typeface="Sakkal Majalla" panose="02000000000000000000" pitchFamily="2" charset="-78"/>
              </a:rPr>
              <a:t>والتعلم الذاتي والاطّلاع.</a:t>
            </a:r>
            <a:r>
              <a:rPr lang="ar-TN" sz="2400" b="1" dirty="0">
                <a:latin typeface="Sakkal Majalla" panose="02000000000000000000" pitchFamily="2" charset="-78"/>
                <a:cs typeface="Sakkal Majalla" panose="02000000000000000000" pitchFamily="2" charset="-78"/>
              </a:rPr>
              <a:t> </a:t>
            </a:r>
            <a:endParaRPr lang="en-US" sz="2400" b="1" dirty="0">
              <a:latin typeface="Sakkal Majalla" panose="02000000000000000000" pitchFamily="2" charset="-78"/>
              <a:cs typeface="Sakkal Majalla" panose="02000000000000000000" pitchFamily="2" charset="-78"/>
            </a:endParaRPr>
          </a:p>
        </p:txBody>
      </p:sp>
      <p:sp>
        <p:nvSpPr>
          <p:cNvPr id="8" name="Rounded Rectangle 7"/>
          <p:cNvSpPr/>
          <p:nvPr/>
        </p:nvSpPr>
        <p:spPr>
          <a:xfrm>
            <a:off x="5074275" y="3258349"/>
            <a:ext cx="2467110" cy="2936383"/>
          </a:xfrm>
          <a:prstGeom prst="roundRect">
            <a:avLst/>
          </a:prstGeom>
          <a:solidFill>
            <a:schemeClr val="accent6">
              <a:lumMod val="20000"/>
              <a:lumOff val="80000"/>
            </a:schemeClr>
          </a:solidFill>
          <a:ln>
            <a:solidFill>
              <a:schemeClr val="accent6">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endParaRPr lang="ar-BH" sz="2600" b="1" dirty="0">
              <a:solidFill>
                <a:srgbClr val="FF0000"/>
              </a:solidFill>
              <a:latin typeface="Sakkal Majalla" panose="02000000000000000000" pitchFamily="2" charset="-78"/>
              <a:cs typeface="Sakkal Majalla" panose="02000000000000000000" pitchFamily="2" charset="-78"/>
            </a:endParaRPr>
          </a:p>
          <a:p>
            <a:pPr algn="ctr" rtl="1"/>
            <a:endParaRPr lang="ar-BH" sz="2600" b="1" dirty="0">
              <a:solidFill>
                <a:srgbClr val="FF0000"/>
              </a:solidFill>
              <a:latin typeface="Sakkal Majalla" panose="02000000000000000000" pitchFamily="2" charset="-78"/>
              <a:cs typeface="Sakkal Majalla" panose="02000000000000000000" pitchFamily="2" charset="-78"/>
            </a:endParaRPr>
          </a:p>
          <a:p>
            <a:pPr algn="ctr" rtl="1"/>
            <a:endParaRPr lang="ar-BH" sz="2600" b="1" dirty="0">
              <a:solidFill>
                <a:srgbClr val="FF0000"/>
              </a:solidFill>
              <a:latin typeface="Sakkal Majalla" panose="02000000000000000000" pitchFamily="2" charset="-78"/>
              <a:cs typeface="Sakkal Majalla" panose="02000000000000000000" pitchFamily="2" charset="-78"/>
            </a:endParaRPr>
          </a:p>
          <a:p>
            <a:pPr algn="ctr" rtl="1"/>
            <a:endParaRPr lang="ar-BH" sz="2600" b="1" dirty="0">
              <a:solidFill>
                <a:srgbClr val="FF0000"/>
              </a:solidFill>
              <a:latin typeface="Sakkal Majalla" panose="02000000000000000000" pitchFamily="2" charset="-78"/>
              <a:cs typeface="Sakkal Majalla" panose="02000000000000000000" pitchFamily="2" charset="-78"/>
            </a:endParaRPr>
          </a:p>
          <a:p>
            <a:pPr algn="ctr" rtl="1"/>
            <a:r>
              <a:rPr lang="ar-BH" sz="2600" b="1" dirty="0">
                <a:solidFill>
                  <a:srgbClr val="FF0000"/>
                </a:solidFill>
                <a:latin typeface="Sakkal Majalla" panose="02000000000000000000" pitchFamily="2" charset="-78"/>
                <a:cs typeface="Sakkal Majalla" panose="02000000000000000000" pitchFamily="2" charset="-78"/>
              </a:rPr>
              <a:t>التفكير الناقد والتأمل:</a:t>
            </a:r>
          </a:p>
          <a:p>
            <a:pPr algn="justLow" rtl="1"/>
            <a:r>
              <a:rPr lang="ar-BH" sz="2400" b="1" dirty="0">
                <a:solidFill>
                  <a:schemeClr val="tx1"/>
                </a:solidFill>
                <a:latin typeface="Sakkal Majalla" panose="02000000000000000000" pitchFamily="2" charset="-78"/>
                <a:cs typeface="Sakkal Majalla" panose="02000000000000000000" pitchFamily="2" charset="-78"/>
              </a:rPr>
              <a:t>من خلال قدرته على امتلاك آليّات التفكير الناقد فيما يتعرضه من معارف، وخبرات، وتجارب.</a:t>
            </a:r>
          </a:p>
          <a:p>
            <a:pPr algn="ctr"/>
            <a:endParaRPr lang="ar-BH" sz="2600" b="1" dirty="0">
              <a:solidFill>
                <a:srgbClr val="FF0000"/>
              </a:solidFill>
              <a:latin typeface="Sakkal Majalla" panose="02000000000000000000" pitchFamily="2" charset="-78"/>
              <a:cs typeface="Sakkal Majalla" panose="02000000000000000000" pitchFamily="2" charset="-78"/>
            </a:endParaRPr>
          </a:p>
          <a:p>
            <a:pPr algn="ctr"/>
            <a:endParaRPr lang="ar-BH" sz="2600" b="1" dirty="0">
              <a:solidFill>
                <a:srgbClr val="FF0000"/>
              </a:solidFill>
              <a:latin typeface="Sakkal Majalla" panose="02000000000000000000" pitchFamily="2" charset="-78"/>
              <a:cs typeface="Sakkal Majalla" panose="02000000000000000000" pitchFamily="2" charset="-78"/>
            </a:endParaRPr>
          </a:p>
          <a:p>
            <a:pPr algn="ctr"/>
            <a:endParaRPr lang="en-US" sz="2600" b="1" dirty="0">
              <a:solidFill>
                <a:srgbClr val="FF0000"/>
              </a:solidFill>
              <a:latin typeface="Sakkal Majalla" panose="02000000000000000000" pitchFamily="2" charset="-78"/>
              <a:cs typeface="Sakkal Majalla" panose="02000000000000000000" pitchFamily="2" charset="-78"/>
            </a:endParaRPr>
          </a:p>
        </p:txBody>
      </p:sp>
      <p:sp>
        <p:nvSpPr>
          <p:cNvPr id="9" name="Rounded Rectangle 8"/>
          <p:cNvSpPr/>
          <p:nvPr/>
        </p:nvSpPr>
        <p:spPr>
          <a:xfrm>
            <a:off x="1081825" y="3271231"/>
            <a:ext cx="2538749" cy="2936383"/>
          </a:xfrm>
          <a:prstGeom prst="roundRect">
            <a:avLst/>
          </a:prstGeom>
          <a:solidFill>
            <a:schemeClr val="accent6">
              <a:lumMod val="20000"/>
              <a:lumOff val="80000"/>
            </a:schemeClr>
          </a:solidFill>
          <a:ln>
            <a:solidFill>
              <a:schemeClr val="accent6">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TN" sz="2600" b="1" dirty="0">
                <a:solidFill>
                  <a:srgbClr val="FF0000"/>
                </a:solidFill>
                <a:latin typeface="Sakkal Majalla" panose="02000000000000000000" pitchFamily="2" charset="-78"/>
                <a:cs typeface="Sakkal Majalla" panose="02000000000000000000" pitchFamily="2" charset="-78"/>
              </a:rPr>
              <a:t>سلوك طريق النجاح:</a:t>
            </a:r>
            <a:endParaRPr lang="ar-BH" sz="2600" b="1" dirty="0">
              <a:solidFill>
                <a:srgbClr val="FF0000"/>
              </a:solidFill>
              <a:latin typeface="Sakkal Majalla" panose="02000000000000000000" pitchFamily="2" charset="-78"/>
              <a:cs typeface="Sakkal Majalla" panose="02000000000000000000" pitchFamily="2" charset="-78"/>
            </a:endParaRPr>
          </a:p>
          <a:p>
            <a:pPr algn="justLow" rtl="1"/>
            <a:r>
              <a:rPr lang="ar-TN" sz="2400" b="1" dirty="0">
                <a:latin typeface="Sakkal Majalla" panose="02000000000000000000" pitchFamily="2" charset="-78"/>
                <a:cs typeface="Sakkal Majalla" panose="02000000000000000000" pitchFamily="2" charset="-78"/>
              </a:rPr>
              <a:t> بقرار وممارسات جادّة، تستهدف النجاح في مجالات الحياة (التعليم، الصحّة، الوظيفة، الأسرة، والعلاقات...).</a:t>
            </a:r>
            <a:endParaRPr lang="en-US" b="1" dirty="0">
              <a:latin typeface="Sakkal Majalla" panose="02000000000000000000" pitchFamily="2" charset="-78"/>
              <a:cs typeface="Sakkal Majalla" panose="02000000000000000000" pitchFamily="2" charset="-78"/>
            </a:endParaRPr>
          </a:p>
        </p:txBody>
      </p:sp>
      <p:sp>
        <p:nvSpPr>
          <p:cNvPr id="10" name="Oval 9"/>
          <p:cNvSpPr/>
          <p:nvPr/>
        </p:nvSpPr>
        <p:spPr>
          <a:xfrm>
            <a:off x="5490021" y="1133342"/>
            <a:ext cx="1657754" cy="853568"/>
          </a:xfrm>
          <a:prstGeom prst="ellipse">
            <a:avLst/>
          </a:prstGeom>
          <a:solidFill>
            <a:srgbClr val="92D05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ar-TN" sz="2600" b="1" dirty="0">
                <a:solidFill>
                  <a:schemeClr val="tx1"/>
                </a:solidFill>
                <a:latin typeface="Sakkal Majalla" panose="02000000000000000000" pitchFamily="2" charset="-78"/>
                <a:cs typeface="Sakkal Majalla" panose="02000000000000000000" pitchFamily="2" charset="-78"/>
              </a:rPr>
              <a:t>التحصين الذاتي</a:t>
            </a:r>
            <a:r>
              <a:rPr lang="ar-BH" sz="2600" b="1" dirty="0">
                <a:solidFill>
                  <a:schemeClr val="tx1"/>
                </a:solidFill>
                <a:latin typeface="Sakkal Majalla" panose="02000000000000000000" pitchFamily="2" charset="-78"/>
                <a:cs typeface="Sakkal Majalla" panose="02000000000000000000" pitchFamily="2" charset="-78"/>
              </a:rPr>
              <a:t>:</a:t>
            </a:r>
            <a:endParaRPr lang="en-US" sz="2600" b="1" dirty="0">
              <a:solidFill>
                <a:schemeClr val="tx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3561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2000"/>
                                        <p:tgtEl>
                                          <p:spTgt spid="10"/>
                                        </p:tgtEl>
                                      </p:cBhvr>
                                    </p:animEffect>
                                    <p:anim calcmode="lin" valueType="num">
                                      <p:cBhvr>
                                        <p:cTn id="15" dur="2000" fill="hold"/>
                                        <p:tgtEl>
                                          <p:spTgt spid="10"/>
                                        </p:tgtEl>
                                        <p:attrNameLst>
                                          <p:attrName>ppt_w</p:attrName>
                                        </p:attrNameLst>
                                      </p:cBhvr>
                                      <p:tavLst>
                                        <p:tav tm="0" fmla="#ppt_w*sin(2.5*pi*$)">
                                          <p:val>
                                            <p:fltVal val="0"/>
                                          </p:val>
                                        </p:tav>
                                        <p:tav tm="100000">
                                          <p:val>
                                            <p:fltVal val="1"/>
                                          </p:val>
                                        </p:tav>
                                      </p:tavLst>
                                    </p:anim>
                                    <p:anim calcmode="lin" valueType="num">
                                      <p:cBhvr>
                                        <p:cTn id="16"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5619058" y="92454"/>
            <a:ext cx="1657754" cy="853568"/>
          </a:xfrm>
          <a:prstGeom prst="ellipse">
            <a:avLst/>
          </a:prstGeom>
          <a:solidFill>
            <a:schemeClr val="accent1">
              <a:lumMod val="60000"/>
              <a:lumOff val="40000"/>
            </a:schemeClr>
          </a:solidFill>
          <a:ln>
            <a:solidFill>
              <a:schemeClr val="accent1">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ar-TN" sz="2600" b="1" dirty="0">
                <a:solidFill>
                  <a:schemeClr val="tx1"/>
                </a:solidFill>
                <a:latin typeface="Sakkal Majalla" panose="02000000000000000000" pitchFamily="2" charset="-78"/>
                <a:cs typeface="Sakkal Majalla" panose="02000000000000000000" pitchFamily="2" charset="-78"/>
              </a:rPr>
              <a:t>التحصين </a:t>
            </a:r>
            <a:r>
              <a:rPr lang="ar-BH" sz="2600" b="1" dirty="0">
                <a:solidFill>
                  <a:schemeClr val="tx1"/>
                </a:solidFill>
                <a:latin typeface="Sakkal Majalla" panose="02000000000000000000" pitchFamily="2" charset="-78"/>
                <a:cs typeface="Sakkal Majalla" panose="02000000000000000000" pitchFamily="2" charset="-78"/>
              </a:rPr>
              <a:t>المجتمعي: </a:t>
            </a:r>
            <a:endParaRPr lang="en-US" sz="2600" b="1" dirty="0">
              <a:solidFill>
                <a:schemeClr val="tx1"/>
              </a:solidFill>
              <a:latin typeface="Sakkal Majalla" panose="02000000000000000000" pitchFamily="2" charset="-78"/>
              <a:cs typeface="Sakkal Majalla" panose="02000000000000000000" pitchFamily="2" charset="-78"/>
            </a:endParaRPr>
          </a:p>
        </p:txBody>
      </p:sp>
      <p:sp>
        <p:nvSpPr>
          <p:cNvPr id="5" name="مستطيل 6">
            <a:extLst>
              <a:ext uri="{FF2B5EF4-FFF2-40B4-BE49-F238E27FC236}">
                <a16:creationId xmlns:a16="http://schemas.microsoft.com/office/drawing/2014/main" id="{08B25958-FB96-4329-9207-5207919AE353}"/>
              </a:ext>
            </a:extLst>
          </p:cNvPr>
          <p:cNvSpPr/>
          <p:nvPr/>
        </p:nvSpPr>
        <p:spPr>
          <a:xfrm>
            <a:off x="172038" y="92454"/>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6" name="Rectangle 5"/>
          <p:cNvSpPr/>
          <p:nvPr/>
        </p:nvSpPr>
        <p:spPr>
          <a:xfrm>
            <a:off x="2468980" y="1204116"/>
            <a:ext cx="7957910" cy="866106"/>
          </a:xfrm>
          <a:prstGeom prst="rect">
            <a:avLst/>
          </a:prstGeom>
          <a:solidFill>
            <a:schemeClr val="accent1">
              <a:lumMod val="40000"/>
              <a:lumOff val="60000"/>
            </a:schemeClr>
          </a:solidFill>
          <a:ln>
            <a:solidFill>
              <a:schemeClr val="accent1">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SA" sz="2400" b="1" dirty="0">
                <a:latin typeface="Sakkal Majalla" panose="02000000000000000000" pitchFamily="2" charset="-78"/>
                <a:cs typeface="Sakkal Majalla" panose="02000000000000000000" pitchFamily="2" charset="-78"/>
              </a:rPr>
              <a:t>يعتمد أساس</a:t>
            </a:r>
            <a:r>
              <a:rPr lang="ar-BH" sz="2400" b="1" dirty="0">
                <a:latin typeface="Sakkal Majalla" panose="02000000000000000000" pitchFamily="2" charset="-78"/>
                <a:cs typeface="Sakkal Majalla" panose="02000000000000000000" pitchFamily="2" charset="-78"/>
              </a:rPr>
              <a:t>ًا على ما يحظى به الشاب من دعم مجتمعي وفقًا للمحيط والبيئة التي يعيش فيها؛ ويتمثّل في</a:t>
            </a:r>
            <a:r>
              <a:rPr lang="ar-SA" sz="2400" b="1" dirty="0">
                <a:latin typeface="Sakkal Majalla" panose="02000000000000000000" pitchFamily="2" charset="-78"/>
                <a:cs typeface="Sakkal Majalla" panose="02000000000000000000" pitchFamily="2" charset="-78"/>
              </a:rPr>
              <a:t> :</a:t>
            </a:r>
            <a:endParaRPr lang="en-US" sz="2400" dirty="0"/>
          </a:p>
        </p:txBody>
      </p:sp>
      <p:sp>
        <p:nvSpPr>
          <p:cNvPr id="7" name="Rounded Rectangle 6"/>
          <p:cNvSpPr/>
          <p:nvPr/>
        </p:nvSpPr>
        <p:spPr>
          <a:xfrm>
            <a:off x="9758150" y="2352498"/>
            <a:ext cx="2060812" cy="3870879"/>
          </a:xfrm>
          <a:prstGeom prst="roundRect">
            <a:avLst/>
          </a:prstGeom>
          <a:solidFill>
            <a:schemeClr val="accent1">
              <a:lumMod val="20000"/>
              <a:lumOff val="80000"/>
            </a:schemeClr>
          </a:solidFill>
          <a:ln>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BH" sz="2600" b="1" dirty="0">
                <a:solidFill>
                  <a:srgbClr val="FF0000"/>
                </a:solidFill>
                <a:latin typeface="Sakkal Majalla" panose="02000000000000000000" pitchFamily="2" charset="-78"/>
                <a:cs typeface="Sakkal Majalla" panose="02000000000000000000" pitchFamily="2" charset="-78"/>
              </a:rPr>
              <a:t>الأسرة:</a:t>
            </a:r>
          </a:p>
          <a:p>
            <a:pPr algn="justLow" rtl="1"/>
            <a:r>
              <a:rPr lang="ar-BH" sz="2400" b="1" dirty="0">
                <a:solidFill>
                  <a:schemeClr val="tx1"/>
                </a:solidFill>
                <a:latin typeface="Sakkal Majalla" panose="02000000000000000000" pitchFamily="2" charset="-78"/>
                <a:cs typeface="Sakkal Majalla" panose="02000000000000000000" pitchFamily="2" charset="-78"/>
              </a:rPr>
              <a:t>بما لديها من إمكانات ماديّة وخلفيّات ثقافيّة وعلاقات اجتماعيّة؛ تهيئ الشاب مبكّراً من عدّة جوانب نفسيّة وثقافيّة واجتماعيّة عدة. </a:t>
            </a:r>
          </a:p>
        </p:txBody>
      </p:sp>
      <p:sp>
        <p:nvSpPr>
          <p:cNvPr id="8" name="Rounded Rectangle 7"/>
          <p:cNvSpPr/>
          <p:nvPr/>
        </p:nvSpPr>
        <p:spPr>
          <a:xfrm>
            <a:off x="6703381" y="2352499"/>
            <a:ext cx="2538483" cy="3870879"/>
          </a:xfrm>
          <a:prstGeom prst="roundRect">
            <a:avLst/>
          </a:prstGeom>
          <a:solidFill>
            <a:schemeClr val="accent1">
              <a:lumMod val="20000"/>
              <a:lumOff val="80000"/>
            </a:schemeClr>
          </a:solidFill>
          <a:ln>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BH" sz="2600" b="1" dirty="0">
                <a:solidFill>
                  <a:srgbClr val="FF0000"/>
                </a:solidFill>
                <a:latin typeface="Sakkal Majalla" panose="02000000000000000000" pitchFamily="2" charset="-78"/>
                <a:cs typeface="Sakkal Majalla" panose="02000000000000000000" pitchFamily="2" charset="-78"/>
              </a:rPr>
              <a:t>الأصدقاء:</a:t>
            </a:r>
          </a:p>
          <a:p>
            <a:pPr algn="justLow" rtl="1"/>
            <a:r>
              <a:rPr lang="ar-BH" sz="2400" b="1" dirty="0">
                <a:solidFill>
                  <a:schemeClr val="tx1"/>
                </a:solidFill>
                <a:latin typeface="Sakkal Majalla" panose="02000000000000000000" pitchFamily="2" charset="-78"/>
                <a:cs typeface="Sakkal Majalla" panose="02000000000000000000" pitchFamily="2" charset="-78"/>
              </a:rPr>
              <a:t>بما لهم من: رفقة وقدوة وعادات وأفكار وطبائع؛ لهم تأثير عظيم في سلوك الشاب، نظراً لما يتمتّع به في هذه الفترة من تحرّر واستقلاليّة عن الأسرة، واندفاع نحو تشكيل صداقات قويّة.</a:t>
            </a:r>
          </a:p>
          <a:p>
            <a:pPr algn="ctr" rtl="1"/>
            <a:endParaRPr lang="ar-BH" sz="2400" b="1" dirty="0">
              <a:solidFill>
                <a:schemeClr val="tx1"/>
              </a:solidFill>
              <a:latin typeface="Sakkal Majalla" panose="02000000000000000000" pitchFamily="2" charset="-78"/>
              <a:cs typeface="Sakkal Majalla" panose="02000000000000000000" pitchFamily="2" charset="-78"/>
            </a:endParaRPr>
          </a:p>
        </p:txBody>
      </p:sp>
      <p:sp>
        <p:nvSpPr>
          <p:cNvPr id="9" name="Rounded Rectangle 8"/>
          <p:cNvSpPr/>
          <p:nvPr/>
        </p:nvSpPr>
        <p:spPr>
          <a:xfrm>
            <a:off x="3812384" y="2352499"/>
            <a:ext cx="2224585" cy="3870879"/>
          </a:xfrm>
          <a:prstGeom prst="roundRect">
            <a:avLst/>
          </a:prstGeom>
          <a:solidFill>
            <a:schemeClr val="accent1">
              <a:lumMod val="20000"/>
              <a:lumOff val="80000"/>
            </a:schemeClr>
          </a:solidFill>
          <a:ln>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BH" sz="2400" b="1" dirty="0">
                <a:solidFill>
                  <a:srgbClr val="FF0000"/>
                </a:solidFill>
                <a:latin typeface="Sakkal Majalla" panose="02000000000000000000" pitchFamily="2" charset="-78"/>
                <a:cs typeface="Sakkal Majalla" panose="02000000000000000000" pitchFamily="2" charset="-78"/>
              </a:rPr>
              <a:t>المحيط المحلّي:</a:t>
            </a:r>
          </a:p>
          <a:p>
            <a:pPr algn="justLow" rtl="1"/>
            <a:r>
              <a:rPr lang="ar-BH" sz="2400" b="1" dirty="0">
                <a:solidFill>
                  <a:schemeClr val="tx1"/>
                </a:solidFill>
                <a:latin typeface="Sakkal Majalla" panose="02000000000000000000" pitchFamily="2" charset="-78"/>
                <a:cs typeface="Sakkal Majalla" panose="02000000000000000000" pitchFamily="2" charset="-78"/>
              </a:rPr>
              <a:t>بما في الحي والقرية والمدينة من: أعراف وتقاليد شائعة، وعلاقات بين الجيران، وأنشطة المؤسّسات الأهليّة؛ يعنى الشاب عادة بالالتزام بقدر كبير من ضوابطها. </a:t>
            </a:r>
            <a:endParaRPr lang="ar-BH" sz="2000" b="1" dirty="0">
              <a:solidFill>
                <a:schemeClr val="tx1"/>
              </a:solidFill>
              <a:latin typeface="Sakkal Majalla" panose="02000000000000000000" pitchFamily="2" charset="-78"/>
              <a:cs typeface="Sakkal Majalla" panose="02000000000000000000" pitchFamily="2" charset="-78"/>
            </a:endParaRPr>
          </a:p>
        </p:txBody>
      </p:sp>
      <p:sp>
        <p:nvSpPr>
          <p:cNvPr id="10" name="Rounded Rectangle 9"/>
          <p:cNvSpPr/>
          <p:nvPr/>
        </p:nvSpPr>
        <p:spPr>
          <a:xfrm>
            <a:off x="1126104" y="2352498"/>
            <a:ext cx="2224585" cy="3870879"/>
          </a:xfrm>
          <a:prstGeom prst="roundRect">
            <a:avLst/>
          </a:prstGeom>
          <a:solidFill>
            <a:schemeClr val="accent1">
              <a:lumMod val="20000"/>
              <a:lumOff val="80000"/>
            </a:schemeClr>
          </a:solidFill>
          <a:ln>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BH" sz="2400" b="1" dirty="0">
                <a:solidFill>
                  <a:srgbClr val="FF0000"/>
                </a:solidFill>
                <a:latin typeface="Sakkal Majalla" panose="02000000000000000000" pitchFamily="2" charset="-78"/>
                <a:cs typeface="Sakkal Majalla" panose="02000000000000000000" pitchFamily="2" charset="-78"/>
              </a:rPr>
              <a:t>المحيط الوطني:</a:t>
            </a:r>
          </a:p>
          <a:p>
            <a:pPr algn="justLow" rtl="1"/>
            <a:r>
              <a:rPr lang="ar-BH" sz="2400" b="1" dirty="0">
                <a:solidFill>
                  <a:schemeClr val="tx1"/>
                </a:solidFill>
                <a:latin typeface="Sakkal Majalla" panose="02000000000000000000" pitchFamily="2" charset="-78"/>
                <a:cs typeface="Sakkal Majalla" panose="02000000000000000000" pitchFamily="2" charset="-78"/>
              </a:rPr>
              <a:t>بما تتمتّع به الدولة: من تشريعات ومبادئ وسياسات وإعلام وإمكانات ماديّة ومؤسّسات وبرامج حكوميّة، وتماسك مجتمعي واستقرار وازدهار؛ سيعود في صالح الشاب.</a:t>
            </a:r>
          </a:p>
        </p:txBody>
      </p:sp>
    </p:spTree>
    <p:extLst>
      <p:ext uri="{BB962C8B-B14F-4D97-AF65-F5344CB8AC3E}">
        <p14:creationId xmlns:p14="http://schemas.microsoft.com/office/powerpoint/2010/main" val="2276265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6">
            <a:extLst>
              <a:ext uri="{FF2B5EF4-FFF2-40B4-BE49-F238E27FC236}">
                <a16:creationId xmlns:a16="http://schemas.microsoft.com/office/drawing/2014/main" id="{08B25958-FB96-4329-9207-5207919AE353}"/>
              </a:ext>
            </a:extLst>
          </p:cNvPr>
          <p:cNvSpPr/>
          <p:nvPr/>
        </p:nvSpPr>
        <p:spPr>
          <a:xfrm>
            <a:off x="172038" y="92454"/>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5" name="Oval 4"/>
          <p:cNvSpPr/>
          <p:nvPr/>
        </p:nvSpPr>
        <p:spPr>
          <a:xfrm>
            <a:off x="8685359" y="190953"/>
            <a:ext cx="3188192" cy="1076015"/>
          </a:xfrm>
          <a:prstGeom prst="ellipse">
            <a:avLst/>
          </a:prstGeom>
          <a:solidFill>
            <a:srgbClr val="E4AED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pPr algn="ctr" rtl="1"/>
            <a:r>
              <a:rPr lang="ar-BH" sz="2600" b="1" dirty="0">
                <a:latin typeface="Sakkal Majalla" panose="02000000000000000000" pitchFamily="2" charset="-78"/>
                <a:cs typeface="Sakkal Majalla" panose="02000000000000000000" pitchFamily="2" charset="-78"/>
              </a:rPr>
              <a:t>2</a:t>
            </a:r>
            <a:r>
              <a:rPr lang="ar-BH" sz="2800" b="1" dirty="0">
                <a:latin typeface="Sakkal Majalla" panose="02000000000000000000" pitchFamily="2" charset="-78"/>
                <a:cs typeface="Sakkal Majalla" panose="02000000000000000000" pitchFamily="2" charset="-78"/>
              </a:rPr>
              <a:t>. رعاية مملكة البحرين للشباب</a:t>
            </a:r>
            <a:r>
              <a:rPr lang="ar-SA" sz="2800" b="1" dirty="0">
                <a:latin typeface="Sakkal Majalla" panose="02000000000000000000" pitchFamily="2" charset="-78"/>
                <a:cs typeface="Sakkal Majalla" panose="02000000000000000000" pitchFamily="2" charset="-78"/>
              </a:rPr>
              <a:t>:</a:t>
            </a:r>
            <a:endParaRPr lang="en-US" sz="2800" dirty="0">
              <a:latin typeface="Sakkal Majalla" panose="02000000000000000000" pitchFamily="2" charset="-78"/>
              <a:cs typeface="Sakkal Majalla" panose="02000000000000000000" pitchFamily="2" charset="-78"/>
            </a:endParaRPr>
          </a:p>
        </p:txBody>
      </p:sp>
      <p:sp>
        <p:nvSpPr>
          <p:cNvPr id="6" name="Rectangle 5"/>
          <p:cNvSpPr/>
          <p:nvPr/>
        </p:nvSpPr>
        <p:spPr>
          <a:xfrm>
            <a:off x="10577015" y="2972843"/>
            <a:ext cx="1296536" cy="1848563"/>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TN" sz="2600" b="1" dirty="0">
                <a:latin typeface="Sakkal Majalla" panose="02000000000000000000" pitchFamily="2" charset="-78"/>
                <a:cs typeface="Sakkal Majalla" panose="02000000000000000000" pitchFamily="2" charset="-78"/>
              </a:rPr>
              <a:t>مقوّمات الرعاية الشبابيّة وخصائصها</a:t>
            </a:r>
            <a:endParaRPr lang="en-US" sz="2600" b="1" dirty="0">
              <a:latin typeface="Sakkal Majalla" panose="02000000000000000000" pitchFamily="2" charset="-78"/>
              <a:cs typeface="Sakkal Majalla" panose="02000000000000000000" pitchFamily="2" charset="-78"/>
            </a:endParaRPr>
          </a:p>
        </p:txBody>
      </p:sp>
      <p:sp>
        <p:nvSpPr>
          <p:cNvPr id="7" name="Rectangle 6"/>
          <p:cNvSpPr/>
          <p:nvPr/>
        </p:nvSpPr>
        <p:spPr>
          <a:xfrm>
            <a:off x="172038" y="1517477"/>
            <a:ext cx="9940953" cy="638869"/>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TN" sz="2400" b="1" dirty="0">
                <a:solidFill>
                  <a:srgbClr val="FF0000"/>
                </a:solidFill>
                <a:latin typeface="Sakkal Majalla" panose="02000000000000000000" pitchFamily="2" charset="-78"/>
                <a:cs typeface="Sakkal Majalla" panose="02000000000000000000" pitchFamily="2" charset="-78"/>
              </a:rPr>
              <a:t>رعاية القيادة العليا: </a:t>
            </a:r>
            <a:r>
              <a:rPr lang="ar-TN" sz="2400" b="1" dirty="0">
                <a:latin typeface="Sakkal Majalla" panose="02000000000000000000" pitchFamily="2" charset="-78"/>
                <a:cs typeface="Sakkal Majalla" panose="02000000000000000000" pitchFamily="2" charset="-78"/>
              </a:rPr>
              <a:t>في مملكة البحرين ممثّلة شخصيّاً في جلالة الملك حمد بن عيسى آل خليفة حفظه الله ورعاه. </a:t>
            </a:r>
            <a:endParaRPr lang="en-US" sz="2400" b="1" dirty="0">
              <a:latin typeface="Sakkal Majalla" panose="02000000000000000000" pitchFamily="2" charset="-78"/>
              <a:cs typeface="Sakkal Majalla" panose="02000000000000000000" pitchFamily="2" charset="-78"/>
            </a:endParaRPr>
          </a:p>
        </p:txBody>
      </p:sp>
      <p:sp>
        <p:nvSpPr>
          <p:cNvPr id="8" name="Rectangle 7"/>
          <p:cNvSpPr/>
          <p:nvPr/>
        </p:nvSpPr>
        <p:spPr>
          <a:xfrm>
            <a:off x="3057099" y="2268289"/>
            <a:ext cx="7055892" cy="557004"/>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BH" sz="2400" b="1" dirty="0">
                <a:solidFill>
                  <a:srgbClr val="FF0000"/>
                </a:solidFill>
                <a:latin typeface="Sakkal Majalla" panose="02000000000000000000" pitchFamily="2" charset="-78"/>
                <a:cs typeface="Sakkal Majalla" panose="02000000000000000000" pitchFamily="2" charset="-78"/>
              </a:rPr>
              <a:t>برنامج سموّ ولي العهد للمنح الدراسيّة العالمية.</a:t>
            </a:r>
            <a:endParaRPr lang="en-US" sz="2400" b="1" dirty="0">
              <a:solidFill>
                <a:srgbClr val="FF0000"/>
              </a:solidFill>
              <a:latin typeface="Sakkal Majalla" panose="02000000000000000000" pitchFamily="2" charset="-78"/>
              <a:cs typeface="Sakkal Majalla" panose="02000000000000000000" pitchFamily="2" charset="-78"/>
            </a:endParaRPr>
          </a:p>
        </p:txBody>
      </p:sp>
      <p:sp>
        <p:nvSpPr>
          <p:cNvPr id="9" name="Rectangle 8"/>
          <p:cNvSpPr/>
          <p:nvPr/>
        </p:nvSpPr>
        <p:spPr>
          <a:xfrm>
            <a:off x="3775049" y="2941177"/>
            <a:ext cx="6337942" cy="529499"/>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TN" sz="2400" b="1" dirty="0">
                <a:solidFill>
                  <a:srgbClr val="FF0000"/>
                </a:solidFill>
                <a:latin typeface="Sakkal Majalla" panose="02000000000000000000" pitchFamily="2" charset="-78"/>
                <a:cs typeface="Sakkal Majalla" panose="02000000000000000000" pitchFamily="2" charset="-78"/>
              </a:rPr>
              <a:t>القدوة الشبابيّة: </a:t>
            </a:r>
            <a:r>
              <a:rPr lang="ar-TN" sz="2400" b="1" dirty="0">
                <a:solidFill>
                  <a:schemeClr val="tx1"/>
                </a:solidFill>
                <a:latin typeface="Sakkal Majalla" panose="02000000000000000000" pitchFamily="2" charset="-78"/>
                <a:cs typeface="Sakkal Majalla" panose="02000000000000000000" pitchFamily="2" charset="-78"/>
              </a:rPr>
              <a:t>ممثّلة في أنجال جلالة الملك حفظهم الله.</a:t>
            </a:r>
            <a:endParaRPr lang="en-US" sz="2400" b="1" dirty="0">
              <a:solidFill>
                <a:schemeClr val="tx1"/>
              </a:solidFill>
              <a:latin typeface="Sakkal Majalla" panose="02000000000000000000" pitchFamily="2" charset="-78"/>
              <a:cs typeface="Sakkal Majalla" panose="02000000000000000000" pitchFamily="2" charset="-78"/>
            </a:endParaRPr>
          </a:p>
        </p:txBody>
      </p:sp>
      <p:sp>
        <p:nvSpPr>
          <p:cNvPr id="10" name="Rectangle 9"/>
          <p:cNvSpPr/>
          <p:nvPr/>
        </p:nvSpPr>
        <p:spPr>
          <a:xfrm>
            <a:off x="172038" y="3564436"/>
            <a:ext cx="9940953" cy="570836"/>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TN" sz="2400" b="1" dirty="0">
                <a:solidFill>
                  <a:srgbClr val="FF0000"/>
                </a:solidFill>
                <a:latin typeface="Sakkal Majalla" panose="02000000000000000000" pitchFamily="2" charset="-78"/>
                <a:cs typeface="Sakkal Majalla" panose="02000000000000000000" pitchFamily="2" charset="-78"/>
              </a:rPr>
              <a:t>طبيعة الشباب البحريني: </a:t>
            </a:r>
            <a:r>
              <a:rPr lang="ar-TN" sz="2400" b="1" dirty="0">
                <a:solidFill>
                  <a:schemeClr val="tx1"/>
                </a:solidFill>
                <a:latin typeface="Sakkal Majalla" panose="02000000000000000000" pitchFamily="2" charset="-78"/>
                <a:cs typeface="Sakkal Majalla" panose="02000000000000000000" pitchFamily="2" charset="-78"/>
              </a:rPr>
              <a:t>المتميّزة بالانفتاح والتسامح والدافعيّة نحو النجاح بحكم ثقافته وأعرافه وتقاليده. </a:t>
            </a:r>
            <a:endParaRPr lang="en-US" sz="2400" b="1" dirty="0">
              <a:solidFill>
                <a:schemeClr val="tx1"/>
              </a:solidFill>
              <a:latin typeface="Sakkal Majalla" panose="02000000000000000000" pitchFamily="2" charset="-78"/>
              <a:cs typeface="Sakkal Majalla" panose="02000000000000000000" pitchFamily="2" charset="-78"/>
            </a:endParaRPr>
          </a:p>
        </p:txBody>
      </p:sp>
      <p:sp>
        <p:nvSpPr>
          <p:cNvPr id="11" name="Rectangle 10"/>
          <p:cNvSpPr/>
          <p:nvPr/>
        </p:nvSpPr>
        <p:spPr>
          <a:xfrm>
            <a:off x="3043451" y="4245632"/>
            <a:ext cx="7069539" cy="451359"/>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TN" sz="2400" b="1" dirty="0">
                <a:solidFill>
                  <a:srgbClr val="FF0000"/>
                </a:solidFill>
                <a:latin typeface="Sakkal Majalla" panose="02000000000000000000" pitchFamily="2" charset="-78"/>
                <a:cs typeface="Sakkal Majalla" panose="02000000000000000000" pitchFamily="2" charset="-78"/>
              </a:rPr>
              <a:t>البيئة المناسبة: </a:t>
            </a:r>
            <a:r>
              <a:rPr lang="ar-TN" sz="2400" b="1" dirty="0">
                <a:solidFill>
                  <a:schemeClr val="tx1"/>
                </a:solidFill>
                <a:latin typeface="Sakkal Majalla" panose="02000000000000000000" pitchFamily="2" charset="-78"/>
                <a:cs typeface="Sakkal Majalla" panose="02000000000000000000" pitchFamily="2" charset="-78"/>
              </a:rPr>
              <a:t>ما يتوافر في الدولة من أمن واستقرار وازدهار وتماسك مجتمعي.</a:t>
            </a:r>
            <a:endParaRPr lang="en-US" sz="2400" b="1" dirty="0">
              <a:solidFill>
                <a:schemeClr val="tx1"/>
              </a:solidFill>
              <a:latin typeface="Sakkal Majalla" panose="02000000000000000000" pitchFamily="2" charset="-78"/>
              <a:cs typeface="Sakkal Majalla" panose="02000000000000000000" pitchFamily="2" charset="-78"/>
            </a:endParaRPr>
          </a:p>
        </p:txBody>
      </p:sp>
      <p:sp>
        <p:nvSpPr>
          <p:cNvPr id="12" name="Rectangle 11"/>
          <p:cNvSpPr/>
          <p:nvPr/>
        </p:nvSpPr>
        <p:spPr>
          <a:xfrm>
            <a:off x="172038" y="4821406"/>
            <a:ext cx="9940952" cy="610404"/>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TN" sz="2400" b="1" dirty="0">
                <a:solidFill>
                  <a:srgbClr val="FF0000"/>
                </a:solidFill>
                <a:latin typeface="Sakkal Majalla" panose="02000000000000000000" pitchFamily="2" charset="-78"/>
                <a:cs typeface="Sakkal Majalla" panose="02000000000000000000" pitchFamily="2" charset="-78"/>
              </a:rPr>
              <a:t>البنية التحتيّة الشبابيّة: </a:t>
            </a:r>
            <a:r>
              <a:rPr lang="ar-TN" sz="2400" b="1" dirty="0">
                <a:solidFill>
                  <a:schemeClr val="tx1"/>
                </a:solidFill>
                <a:latin typeface="Sakkal Majalla" panose="02000000000000000000" pitchFamily="2" charset="-78"/>
                <a:cs typeface="Sakkal Majalla" panose="02000000000000000000" pitchFamily="2" charset="-78"/>
              </a:rPr>
              <a:t>توافر مراكز شبابيّة نموذجيّة وأندية تحتوي على مرافق متنوّعة تلبّي احتياجات الشباب. </a:t>
            </a:r>
            <a:endParaRPr lang="en-US" sz="2400" b="1" dirty="0">
              <a:solidFill>
                <a:schemeClr val="tx1"/>
              </a:solidFill>
              <a:latin typeface="Sakkal Majalla" panose="02000000000000000000" pitchFamily="2" charset="-78"/>
              <a:cs typeface="Sakkal Majalla" panose="02000000000000000000" pitchFamily="2" charset="-78"/>
            </a:endParaRPr>
          </a:p>
        </p:txBody>
      </p:sp>
      <p:sp>
        <p:nvSpPr>
          <p:cNvPr id="13" name="Rectangle 12"/>
          <p:cNvSpPr/>
          <p:nvPr/>
        </p:nvSpPr>
        <p:spPr>
          <a:xfrm>
            <a:off x="172038" y="5682319"/>
            <a:ext cx="9940953" cy="638869"/>
          </a:xfrm>
          <a:prstGeom prst="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r" rtl="1"/>
            <a:r>
              <a:rPr lang="ar-TN" sz="2400" b="1" dirty="0">
                <a:solidFill>
                  <a:srgbClr val="FF0000"/>
                </a:solidFill>
                <a:latin typeface="Sakkal Majalla" panose="02000000000000000000" pitchFamily="2" charset="-78"/>
                <a:cs typeface="Sakkal Majalla" panose="02000000000000000000" pitchFamily="2" charset="-78"/>
              </a:rPr>
              <a:t>البرامج الشبابيّة: </a:t>
            </a:r>
            <a:r>
              <a:rPr lang="ar-TN" sz="2400" b="1" dirty="0">
                <a:latin typeface="Sakkal Majalla" panose="02000000000000000000" pitchFamily="2" charset="-78"/>
                <a:cs typeface="Sakkal Majalla" panose="02000000000000000000" pitchFamily="2" charset="-78"/>
              </a:rPr>
              <a:t>من فعاليّات ودورات تدريبيّة ومنح تعليميّة ومسابقات ثقافيّة ورياضيّة وأنشطة تطوعيّة تطرحها المؤسّسات الحكوميّة والمجتمعيّة.</a:t>
            </a:r>
            <a:endParaRPr lang="en-US" sz="24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41155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1000"/>
                                        <p:tgtEl>
                                          <p:spTgt spid="13"/>
                                        </p:tgtEl>
                                      </p:cBhvr>
                                    </p:animEffect>
                                    <p:anim calcmode="lin" valueType="num">
                                      <p:cBhvr>
                                        <p:cTn id="64" dur="1000" fill="hold"/>
                                        <p:tgtEl>
                                          <p:spTgt spid="13"/>
                                        </p:tgtEl>
                                        <p:attrNameLst>
                                          <p:attrName>ppt_x</p:attrName>
                                        </p:attrNameLst>
                                      </p:cBhvr>
                                      <p:tavLst>
                                        <p:tav tm="0">
                                          <p:val>
                                            <p:strVal val="#ppt_x"/>
                                          </p:val>
                                        </p:tav>
                                        <p:tav tm="100000">
                                          <p:val>
                                            <p:strVal val="#ppt_x"/>
                                          </p:val>
                                        </p:tav>
                                      </p:tavLst>
                                    </p:anim>
                                    <p:anim calcmode="lin" valueType="num">
                                      <p:cBhvr>
                                        <p:cTn id="6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6">
            <a:extLst>
              <a:ext uri="{FF2B5EF4-FFF2-40B4-BE49-F238E27FC236}">
                <a16:creationId xmlns:a16="http://schemas.microsoft.com/office/drawing/2014/main" id="{08B25958-FB96-4329-9207-5207919AE353}"/>
              </a:ext>
            </a:extLst>
          </p:cNvPr>
          <p:cNvSpPr/>
          <p:nvPr/>
        </p:nvSpPr>
        <p:spPr>
          <a:xfrm>
            <a:off x="172038" y="92454"/>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6" name="Rectangle 5"/>
          <p:cNvSpPr/>
          <p:nvPr/>
        </p:nvSpPr>
        <p:spPr>
          <a:xfrm>
            <a:off x="4224272" y="209415"/>
            <a:ext cx="4494726" cy="846510"/>
          </a:xfrm>
          <a:prstGeom prst="rect">
            <a:avLst/>
          </a:prstGeom>
          <a:solidFill>
            <a:schemeClr val="accent6">
              <a:lumMod val="60000"/>
              <a:lumOff val="40000"/>
            </a:schemeClr>
          </a:solidFill>
          <a:ln>
            <a:solidFill>
              <a:schemeClr val="accent6">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BH" sz="2600" b="1" dirty="0">
                <a:latin typeface="Sakkal Majalla" panose="02000000000000000000" pitchFamily="2" charset="-78"/>
                <a:cs typeface="Sakkal Majalla" panose="02000000000000000000" pitchFamily="2" charset="-78"/>
              </a:rPr>
              <a:t>خصائص الرعاية الشبابية في مملكة البحرين</a:t>
            </a:r>
            <a:endParaRPr lang="en-US" sz="2600" b="1" dirty="0">
              <a:latin typeface="Sakkal Majalla" panose="02000000000000000000" pitchFamily="2" charset="-78"/>
              <a:cs typeface="Sakkal Majalla" panose="02000000000000000000" pitchFamily="2" charset="-78"/>
            </a:endParaRPr>
          </a:p>
        </p:txBody>
      </p:sp>
      <p:sp>
        <p:nvSpPr>
          <p:cNvPr id="7" name="Rectangle 6"/>
          <p:cNvSpPr/>
          <p:nvPr/>
        </p:nvSpPr>
        <p:spPr>
          <a:xfrm>
            <a:off x="1253862" y="1259898"/>
            <a:ext cx="9940953" cy="1148451"/>
          </a:xfrm>
          <a:prstGeom prst="rect">
            <a:avLst/>
          </a:prstGeom>
          <a:solidFill>
            <a:schemeClr val="accent6">
              <a:lumMod val="40000"/>
              <a:lumOff val="60000"/>
            </a:schemeClr>
          </a:solidFill>
          <a:ln>
            <a:solidFill>
              <a:schemeClr val="accent6">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BH" sz="2400" b="1" dirty="0">
                <a:solidFill>
                  <a:srgbClr val="FF0000"/>
                </a:solidFill>
                <a:latin typeface="Sakkal Majalla" panose="02000000000000000000" pitchFamily="2" charset="-78"/>
                <a:cs typeface="Sakkal Majalla" panose="02000000000000000000" pitchFamily="2" charset="-78"/>
              </a:rPr>
              <a:t>التنوع والشمولية: </a:t>
            </a:r>
          </a:p>
          <a:p>
            <a:pPr algn="ctr" rtl="1"/>
            <a:r>
              <a:rPr lang="ar-BH" sz="2400" b="1" dirty="0">
                <a:solidFill>
                  <a:schemeClr val="tx1"/>
                </a:solidFill>
                <a:latin typeface="Sakkal Majalla" panose="02000000000000000000" pitchFamily="2" charset="-78"/>
                <a:cs typeface="Sakkal Majalla" panose="02000000000000000000" pitchFamily="2" charset="-78"/>
              </a:rPr>
              <a:t>تنوّعت في مجالات التعليم والصحة والرياضة والتوظيف وغيرها، كما شملت الجنسين الشباب والفتيات، واهتمّت بالشباب من ذوي الاحتياجات الخاصّة.</a:t>
            </a:r>
            <a:endParaRPr lang="en-US" sz="2400" b="1" dirty="0">
              <a:solidFill>
                <a:schemeClr val="tx1"/>
              </a:solidFill>
              <a:latin typeface="Sakkal Majalla" panose="02000000000000000000" pitchFamily="2" charset="-78"/>
              <a:cs typeface="Sakkal Majalla" panose="02000000000000000000" pitchFamily="2" charset="-78"/>
            </a:endParaRPr>
          </a:p>
        </p:txBody>
      </p:sp>
      <p:sp>
        <p:nvSpPr>
          <p:cNvPr id="8" name="Rectangle 7"/>
          <p:cNvSpPr/>
          <p:nvPr/>
        </p:nvSpPr>
        <p:spPr>
          <a:xfrm>
            <a:off x="1253861" y="2638080"/>
            <a:ext cx="9940953" cy="1302854"/>
          </a:xfrm>
          <a:prstGeom prst="rect">
            <a:avLst/>
          </a:prstGeom>
          <a:solidFill>
            <a:schemeClr val="accent6">
              <a:lumMod val="40000"/>
              <a:lumOff val="60000"/>
            </a:schemeClr>
          </a:solidFill>
          <a:ln>
            <a:solidFill>
              <a:schemeClr val="accent6">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TN" sz="2400" b="1" dirty="0">
                <a:solidFill>
                  <a:srgbClr val="FF0000"/>
                </a:solidFill>
                <a:latin typeface="Sakkal Majalla" panose="02000000000000000000" pitchFamily="2" charset="-78"/>
                <a:cs typeface="Sakkal Majalla" panose="02000000000000000000" pitchFamily="2" charset="-78"/>
              </a:rPr>
              <a:t>العالميّة:</a:t>
            </a:r>
            <a:endParaRPr lang="ar-BH" sz="2400" b="1" dirty="0">
              <a:solidFill>
                <a:srgbClr val="FF0000"/>
              </a:solidFill>
              <a:latin typeface="Sakkal Majalla" panose="02000000000000000000" pitchFamily="2" charset="-78"/>
              <a:cs typeface="Sakkal Majalla" panose="02000000000000000000" pitchFamily="2" charset="-78"/>
            </a:endParaRPr>
          </a:p>
          <a:p>
            <a:pPr algn="ctr" rtl="1"/>
            <a:r>
              <a:rPr lang="ar-TN" sz="2400" b="1" dirty="0">
                <a:solidFill>
                  <a:srgbClr val="FF0000"/>
                </a:solidFill>
                <a:latin typeface="Sakkal Majalla" panose="02000000000000000000" pitchFamily="2" charset="-78"/>
                <a:cs typeface="Sakkal Majalla" panose="02000000000000000000" pitchFamily="2" charset="-78"/>
              </a:rPr>
              <a:t> </a:t>
            </a:r>
            <a:r>
              <a:rPr lang="ar-TN" sz="2400" b="1" dirty="0">
                <a:solidFill>
                  <a:schemeClr val="tx1"/>
                </a:solidFill>
                <a:latin typeface="Sakkal Majalla" panose="02000000000000000000" pitchFamily="2" charset="-78"/>
                <a:cs typeface="Sakkal Majalla" panose="02000000000000000000" pitchFamily="2" charset="-78"/>
              </a:rPr>
              <a:t>لم تقتصر الرعاية الشبابيّة على النطاق الوطني؛ وإنّما تعدّتها لتشمل العالم بمشاركات ومسابقات وفعاليّات وبرامج رياديّة.</a:t>
            </a:r>
            <a:endParaRPr lang="en-US" sz="2400" b="1" dirty="0">
              <a:solidFill>
                <a:schemeClr val="tx1"/>
              </a:solidFill>
              <a:latin typeface="Sakkal Majalla" panose="02000000000000000000" pitchFamily="2" charset="-78"/>
              <a:cs typeface="Sakkal Majalla" panose="02000000000000000000" pitchFamily="2" charset="-78"/>
            </a:endParaRPr>
          </a:p>
        </p:txBody>
      </p:sp>
      <p:sp>
        <p:nvSpPr>
          <p:cNvPr id="9" name="Rectangle 8"/>
          <p:cNvSpPr/>
          <p:nvPr/>
        </p:nvSpPr>
        <p:spPr>
          <a:xfrm>
            <a:off x="1253861" y="4144907"/>
            <a:ext cx="9940953" cy="916487"/>
          </a:xfrm>
          <a:prstGeom prst="rect">
            <a:avLst/>
          </a:prstGeom>
          <a:solidFill>
            <a:schemeClr val="accent6">
              <a:lumMod val="40000"/>
              <a:lumOff val="60000"/>
            </a:schemeClr>
          </a:solidFill>
          <a:ln>
            <a:solidFill>
              <a:schemeClr val="accent6">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TN" sz="2400" b="1" dirty="0">
                <a:solidFill>
                  <a:srgbClr val="FF0000"/>
                </a:solidFill>
                <a:latin typeface="Sakkal Majalla" panose="02000000000000000000" pitchFamily="2" charset="-78"/>
                <a:cs typeface="Sakkal Majalla" panose="02000000000000000000" pitchFamily="2" charset="-78"/>
              </a:rPr>
              <a:t>الاستثمار البشري</a:t>
            </a:r>
            <a:r>
              <a:rPr lang="ar-BH" sz="2400" b="1" dirty="0">
                <a:solidFill>
                  <a:srgbClr val="FF0000"/>
                </a:solidFill>
                <a:latin typeface="Sakkal Majalla" panose="02000000000000000000" pitchFamily="2" charset="-78"/>
                <a:cs typeface="Sakkal Majalla" panose="02000000000000000000" pitchFamily="2" charset="-78"/>
              </a:rPr>
              <a:t>:</a:t>
            </a:r>
          </a:p>
          <a:p>
            <a:pPr algn="ctr" rtl="1"/>
            <a:r>
              <a:rPr lang="ar-TN" sz="2400" b="1" dirty="0">
                <a:solidFill>
                  <a:schemeClr val="tx1"/>
                </a:solidFill>
                <a:latin typeface="Sakkal Majalla" panose="02000000000000000000" pitchFamily="2" charset="-78"/>
                <a:cs typeface="Sakkal Majalla" panose="02000000000000000000" pitchFamily="2" charset="-78"/>
              </a:rPr>
              <a:t> للطاقات الشبابيّة وتنمية الهوايات والإبداعات، وصقل إمكانات ذوي الاحتياجات الخاصّة.</a:t>
            </a:r>
            <a:endParaRPr lang="en-US" sz="2400" b="1" dirty="0">
              <a:solidFill>
                <a:schemeClr val="tx1"/>
              </a:solidFill>
              <a:latin typeface="Sakkal Majalla" panose="02000000000000000000" pitchFamily="2" charset="-78"/>
              <a:cs typeface="Sakkal Majalla" panose="02000000000000000000" pitchFamily="2" charset="-78"/>
            </a:endParaRPr>
          </a:p>
        </p:txBody>
      </p:sp>
      <p:sp>
        <p:nvSpPr>
          <p:cNvPr id="10" name="Rectangle 9"/>
          <p:cNvSpPr/>
          <p:nvPr/>
        </p:nvSpPr>
        <p:spPr>
          <a:xfrm>
            <a:off x="1253861" y="5265367"/>
            <a:ext cx="9940953" cy="814381"/>
          </a:xfrm>
          <a:prstGeom prst="rect">
            <a:avLst/>
          </a:prstGeom>
          <a:solidFill>
            <a:schemeClr val="accent6">
              <a:lumMod val="40000"/>
              <a:lumOff val="60000"/>
            </a:schemeClr>
          </a:solidFill>
          <a:ln>
            <a:solidFill>
              <a:schemeClr val="accent6">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TN" sz="2400" b="1" dirty="0">
                <a:solidFill>
                  <a:srgbClr val="FF0000"/>
                </a:solidFill>
                <a:latin typeface="Sakkal Majalla" panose="02000000000000000000" pitchFamily="2" charset="-78"/>
                <a:cs typeface="Sakkal Majalla" panose="02000000000000000000" pitchFamily="2" charset="-78"/>
              </a:rPr>
              <a:t>تعزيز القيم:</a:t>
            </a:r>
            <a:endParaRPr lang="ar-BH" sz="2400" b="1" dirty="0">
              <a:solidFill>
                <a:srgbClr val="FF0000"/>
              </a:solidFill>
              <a:latin typeface="Sakkal Majalla" panose="02000000000000000000" pitchFamily="2" charset="-78"/>
              <a:cs typeface="Sakkal Majalla" panose="02000000000000000000" pitchFamily="2" charset="-78"/>
            </a:endParaRPr>
          </a:p>
          <a:p>
            <a:pPr algn="ctr" rtl="1"/>
            <a:r>
              <a:rPr lang="ar-TN" sz="2400" b="1" dirty="0">
                <a:solidFill>
                  <a:schemeClr val="tx1"/>
                </a:solidFill>
                <a:latin typeface="Sakkal Majalla" panose="02000000000000000000" pitchFamily="2" charset="-78"/>
                <a:cs typeface="Sakkal Majalla" panose="02000000000000000000" pitchFamily="2" charset="-78"/>
              </a:rPr>
              <a:t> تسعى الرعاية الشبابيّة نحو تعزيز قيم التسامح والتعايش والسلام والتنمية المستدامة للعالم. </a:t>
            </a:r>
            <a:endParaRPr lang="en-US" sz="2400" b="1" dirty="0">
              <a:solidFill>
                <a:schemeClr val="tx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5099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6">
            <a:extLst>
              <a:ext uri="{FF2B5EF4-FFF2-40B4-BE49-F238E27FC236}">
                <a16:creationId xmlns:a16="http://schemas.microsoft.com/office/drawing/2014/main" id="{08B25958-FB96-4329-9207-5207919AE353}"/>
              </a:ext>
            </a:extLst>
          </p:cNvPr>
          <p:cNvSpPr/>
          <p:nvPr/>
        </p:nvSpPr>
        <p:spPr>
          <a:xfrm>
            <a:off x="172038" y="92454"/>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5" name="Oval 4"/>
          <p:cNvSpPr/>
          <p:nvPr/>
        </p:nvSpPr>
        <p:spPr>
          <a:xfrm>
            <a:off x="3747752" y="604708"/>
            <a:ext cx="4790941" cy="1118160"/>
          </a:xfrm>
          <a:prstGeom prst="ellipse">
            <a:avLst/>
          </a:prstGeom>
          <a:solidFill>
            <a:schemeClr val="accent1">
              <a:lumMod val="60000"/>
              <a:lumOff val="40000"/>
            </a:schemeClr>
          </a:solidFill>
          <a:ln>
            <a:solidFill>
              <a:schemeClr val="accent1">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ar-BH" sz="2600" b="1" dirty="0">
                <a:solidFill>
                  <a:schemeClr val="tx1"/>
                </a:solidFill>
                <a:latin typeface="Sakkal Majalla" panose="02000000000000000000" pitchFamily="2" charset="-78"/>
                <a:cs typeface="Sakkal Majalla" panose="02000000000000000000" pitchFamily="2" charset="-78"/>
              </a:rPr>
              <a:t>إنجازات مملكة البحرين في مجال رعاية الشباب</a:t>
            </a:r>
            <a:endParaRPr lang="en-US" sz="2600" b="1" dirty="0">
              <a:solidFill>
                <a:schemeClr val="tx1"/>
              </a:solidFill>
              <a:latin typeface="Sakkal Majalla" panose="02000000000000000000" pitchFamily="2" charset="-78"/>
              <a:cs typeface="Sakkal Majalla" panose="02000000000000000000" pitchFamily="2" charset="-78"/>
            </a:endParaRPr>
          </a:p>
        </p:txBody>
      </p:sp>
      <p:sp>
        <p:nvSpPr>
          <p:cNvPr id="6" name="Rounded Rectangle 5"/>
          <p:cNvSpPr/>
          <p:nvPr/>
        </p:nvSpPr>
        <p:spPr>
          <a:xfrm>
            <a:off x="7917877" y="2189405"/>
            <a:ext cx="3209470" cy="2867653"/>
          </a:xfrm>
          <a:prstGeom prst="roundRect">
            <a:avLst/>
          </a:prstGeom>
          <a:solidFill>
            <a:schemeClr val="accent1">
              <a:lumMod val="20000"/>
              <a:lumOff val="80000"/>
            </a:schemeClr>
          </a:solidFill>
          <a:ln>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chemeClr val="tx1"/>
                </a:solidFill>
                <a:latin typeface="Sakkal Majalla" panose="02000000000000000000" pitchFamily="2" charset="-78"/>
                <a:cs typeface="Sakkal Majalla" panose="02000000000000000000" pitchFamily="2" charset="-78"/>
              </a:rPr>
              <a:t>تسمية جوائز كبرى باسم مملكة البحرين وقياداتها في مجال الشباب أبرزها (جائزة الملك حمد لتمكين الشباب لتحقيق أهداف التنمية المستدامة 2017م)</a:t>
            </a:r>
          </a:p>
        </p:txBody>
      </p:sp>
      <p:sp>
        <p:nvSpPr>
          <p:cNvPr id="7" name="Rounded Rectangle 6"/>
          <p:cNvSpPr/>
          <p:nvPr/>
        </p:nvSpPr>
        <p:spPr>
          <a:xfrm>
            <a:off x="4215200" y="2189405"/>
            <a:ext cx="3209470" cy="2867654"/>
          </a:xfrm>
          <a:prstGeom prst="roundRect">
            <a:avLst/>
          </a:prstGeom>
          <a:solidFill>
            <a:schemeClr val="accent1">
              <a:lumMod val="20000"/>
              <a:lumOff val="80000"/>
            </a:schemeClr>
          </a:solidFill>
          <a:ln>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chemeClr val="tx1"/>
                </a:solidFill>
                <a:latin typeface="Sakkal Majalla" panose="02000000000000000000" pitchFamily="2" charset="-78"/>
                <a:cs typeface="Sakkal Majalla" panose="02000000000000000000" pitchFamily="2" charset="-78"/>
              </a:rPr>
              <a:t>إنشاء أندية ومراكز شبابية نموذجيّة موزّعة على محافظات المملكة، تتوافر فيها مرافق مكتملة تراعي التنوّع في اهتمامات الشباب.</a:t>
            </a:r>
          </a:p>
        </p:txBody>
      </p:sp>
      <p:sp>
        <p:nvSpPr>
          <p:cNvPr id="8" name="Rounded Rectangle 7"/>
          <p:cNvSpPr/>
          <p:nvPr/>
        </p:nvSpPr>
        <p:spPr>
          <a:xfrm>
            <a:off x="357978" y="2189404"/>
            <a:ext cx="3209470" cy="2867653"/>
          </a:xfrm>
          <a:prstGeom prst="roundRect">
            <a:avLst/>
          </a:prstGeom>
          <a:solidFill>
            <a:schemeClr val="accent1">
              <a:lumMod val="20000"/>
              <a:lumOff val="80000"/>
            </a:schemeClr>
          </a:solidFill>
          <a:ln>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chemeClr val="tx1"/>
                </a:solidFill>
                <a:latin typeface="Sakkal Majalla" panose="02000000000000000000" pitchFamily="2" charset="-78"/>
                <a:cs typeface="Sakkal Majalla" panose="02000000000000000000" pitchFamily="2" charset="-78"/>
              </a:rPr>
              <a:t>حصد عدد وافر من الميداليات الرياضيّة (مثلاً تمّ حصد 511 ميدالية عام 2016م)</a:t>
            </a:r>
          </a:p>
        </p:txBody>
      </p:sp>
      <p:sp>
        <p:nvSpPr>
          <p:cNvPr id="16" name="Rounded Rectangle 15"/>
          <p:cNvSpPr/>
          <p:nvPr/>
        </p:nvSpPr>
        <p:spPr>
          <a:xfrm>
            <a:off x="764989" y="5525036"/>
            <a:ext cx="1332440" cy="590785"/>
          </a:xfrm>
          <a:prstGeom prst="roundRect">
            <a:avLst/>
          </a:prstGeom>
          <a:solidFill>
            <a:srgbClr val="F9C3CB"/>
          </a:solidFill>
          <a:ln w="28575" cap="flat" cmpd="sng" algn="ctr">
            <a:solidFill>
              <a:srgbClr val="FF0000"/>
            </a:solidFill>
            <a:prstDash val="solid"/>
            <a:miter lim="800000"/>
          </a:ln>
          <a:effectLst>
            <a:innerShdw blurRad="63500" dist="50800" dir="5400000">
              <a:prstClr val="black">
                <a:alpha val="50000"/>
              </a:prstClr>
            </a:inn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lvl="0" algn="ctr" rtl="1"/>
            <a:r>
              <a:rPr lang="ar-BH" sz="3200" b="1" dirty="0">
                <a:latin typeface="Sakkal Majalla" panose="02000000000000000000" pitchFamily="2" charset="-78"/>
                <a:cs typeface="Sakkal Majalla" panose="02000000000000000000" pitchFamily="2" charset="-78"/>
                <a:sym typeface="Wingdings" panose="05000000000000000000" pitchFamily="2" charset="2"/>
              </a:rPr>
              <a:t>يتبع</a:t>
            </a:r>
            <a:endParaRPr lang="en-US" sz="32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355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6"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down)">
                                      <p:cBhvr>
                                        <p:cTn id="35" dur="580">
                                          <p:stCondLst>
                                            <p:cond delay="0"/>
                                          </p:stCondLst>
                                        </p:cTn>
                                        <p:tgtEl>
                                          <p:spTgt spid="16"/>
                                        </p:tgtEl>
                                      </p:cBhvr>
                                    </p:animEffect>
                                    <p:anim calcmode="lin" valueType="num">
                                      <p:cBhvr>
                                        <p:cTn id="36"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41" dur="26">
                                          <p:stCondLst>
                                            <p:cond delay="650"/>
                                          </p:stCondLst>
                                        </p:cTn>
                                        <p:tgtEl>
                                          <p:spTgt spid="16"/>
                                        </p:tgtEl>
                                      </p:cBhvr>
                                      <p:to x="100000" y="60000"/>
                                    </p:animScale>
                                    <p:animScale>
                                      <p:cBhvr>
                                        <p:cTn id="42" dur="166" decel="50000">
                                          <p:stCondLst>
                                            <p:cond delay="676"/>
                                          </p:stCondLst>
                                        </p:cTn>
                                        <p:tgtEl>
                                          <p:spTgt spid="16"/>
                                        </p:tgtEl>
                                      </p:cBhvr>
                                      <p:to x="100000" y="100000"/>
                                    </p:animScale>
                                    <p:animScale>
                                      <p:cBhvr>
                                        <p:cTn id="43" dur="26">
                                          <p:stCondLst>
                                            <p:cond delay="1312"/>
                                          </p:stCondLst>
                                        </p:cTn>
                                        <p:tgtEl>
                                          <p:spTgt spid="16"/>
                                        </p:tgtEl>
                                      </p:cBhvr>
                                      <p:to x="100000" y="80000"/>
                                    </p:animScale>
                                    <p:animScale>
                                      <p:cBhvr>
                                        <p:cTn id="44" dur="166" decel="50000">
                                          <p:stCondLst>
                                            <p:cond delay="1338"/>
                                          </p:stCondLst>
                                        </p:cTn>
                                        <p:tgtEl>
                                          <p:spTgt spid="16"/>
                                        </p:tgtEl>
                                      </p:cBhvr>
                                      <p:to x="100000" y="100000"/>
                                    </p:animScale>
                                    <p:animScale>
                                      <p:cBhvr>
                                        <p:cTn id="45" dur="26">
                                          <p:stCondLst>
                                            <p:cond delay="1642"/>
                                          </p:stCondLst>
                                        </p:cTn>
                                        <p:tgtEl>
                                          <p:spTgt spid="16"/>
                                        </p:tgtEl>
                                      </p:cBhvr>
                                      <p:to x="100000" y="90000"/>
                                    </p:animScale>
                                    <p:animScale>
                                      <p:cBhvr>
                                        <p:cTn id="46" dur="166" decel="50000">
                                          <p:stCondLst>
                                            <p:cond delay="1668"/>
                                          </p:stCondLst>
                                        </p:cTn>
                                        <p:tgtEl>
                                          <p:spTgt spid="16"/>
                                        </p:tgtEl>
                                      </p:cBhvr>
                                      <p:to x="100000" y="100000"/>
                                    </p:animScale>
                                    <p:animScale>
                                      <p:cBhvr>
                                        <p:cTn id="47" dur="26">
                                          <p:stCondLst>
                                            <p:cond delay="1808"/>
                                          </p:stCondLst>
                                        </p:cTn>
                                        <p:tgtEl>
                                          <p:spTgt spid="16"/>
                                        </p:tgtEl>
                                      </p:cBhvr>
                                      <p:to x="100000" y="95000"/>
                                    </p:animScale>
                                    <p:animScale>
                                      <p:cBhvr>
                                        <p:cTn id="48"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6">
            <a:extLst>
              <a:ext uri="{FF2B5EF4-FFF2-40B4-BE49-F238E27FC236}">
                <a16:creationId xmlns:a16="http://schemas.microsoft.com/office/drawing/2014/main" id="{08B25958-FB96-4329-9207-5207919AE353}"/>
              </a:ext>
            </a:extLst>
          </p:cNvPr>
          <p:cNvSpPr/>
          <p:nvPr/>
        </p:nvSpPr>
        <p:spPr>
          <a:xfrm>
            <a:off x="172038" y="53817"/>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5" name="Rounded Rectangle 4"/>
          <p:cNvSpPr/>
          <p:nvPr/>
        </p:nvSpPr>
        <p:spPr>
          <a:xfrm>
            <a:off x="5022760" y="285856"/>
            <a:ext cx="6851560" cy="828584"/>
          </a:xfrm>
          <a:prstGeom prst="roundRect">
            <a:avLst/>
          </a:prstGeom>
          <a:solidFill>
            <a:schemeClr val="accent4">
              <a:lumMod val="60000"/>
              <a:lumOff val="40000"/>
            </a:schemeClr>
          </a:solidFill>
          <a:ln>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chemeClr val="tx1"/>
                </a:solidFill>
                <a:latin typeface="Sakkal Majalla" panose="02000000000000000000" pitchFamily="2" charset="-78"/>
                <a:cs typeface="Sakkal Majalla" panose="02000000000000000000" pitchFamily="2" charset="-78"/>
              </a:rPr>
              <a:t>تقدّم وزارة شؤون الشباب والرياضة فعاليّات وبرامج ومشاريع متنوّعة مثل:</a:t>
            </a:r>
          </a:p>
        </p:txBody>
      </p:sp>
      <p:sp>
        <p:nvSpPr>
          <p:cNvPr id="6" name="Rectangle 5"/>
          <p:cNvSpPr/>
          <p:nvPr/>
        </p:nvSpPr>
        <p:spPr>
          <a:xfrm>
            <a:off x="1081827" y="1259757"/>
            <a:ext cx="8603086" cy="545250"/>
          </a:xfrm>
          <a:prstGeom prst="rect">
            <a:avLst/>
          </a:prstGeom>
          <a:solidFill>
            <a:schemeClr val="accent4">
              <a:lumMod val="40000"/>
              <a:lumOff val="60000"/>
            </a:schemeClr>
          </a:solidFill>
          <a:ln>
            <a:solidFill>
              <a:schemeClr val="accent4">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ar-TN" sz="2400" b="1" dirty="0">
                <a:solidFill>
                  <a:srgbClr val="FF0000"/>
                </a:solidFill>
                <a:latin typeface="Sakkal Majalla" panose="02000000000000000000" pitchFamily="2" charset="-78"/>
                <a:cs typeface="Sakkal Majalla" panose="02000000000000000000" pitchFamily="2" charset="-78"/>
              </a:rPr>
              <a:t>"مدينة شباب 2030": </a:t>
            </a:r>
            <a:r>
              <a:rPr lang="ar-TN" sz="2400" b="1" dirty="0">
                <a:latin typeface="Sakkal Majalla" panose="02000000000000000000" pitchFamily="2" charset="-78"/>
                <a:cs typeface="Sakkal Majalla" panose="02000000000000000000" pitchFamily="2" charset="-78"/>
              </a:rPr>
              <a:t>برامج تدريبيّة متنوّعة؛ تهدف لتنمية قدرات الشباب وتهيئتهم لسوق العمل.</a:t>
            </a:r>
            <a:endParaRPr lang="en-US" sz="2400" b="1" dirty="0">
              <a:latin typeface="Sakkal Majalla" panose="02000000000000000000" pitchFamily="2" charset="-78"/>
              <a:cs typeface="Sakkal Majalla" panose="02000000000000000000" pitchFamily="2" charset="-78"/>
            </a:endParaRPr>
          </a:p>
        </p:txBody>
      </p:sp>
      <p:sp>
        <p:nvSpPr>
          <p:cNvPr id="7" name="Rectangle 6"/>
          <p:cNvSpPr/>
          <p:nvPr/>
        </p:nvSpPr>
        <p:spPr>
          <a:xfrm>
            <a:off x="1081827" y="1946249"/>
            <a:ext cx="8603086" cy="755581"/>
          </a:xfrm>
          <a:prstGeom prst="rect">
            <a:avLst/>
          </a:prstGeom>
          <a:solidFill>
            <a:schemeClr val="accent4">
              <a:lumMod val="40000"/>
              <a:lumOff val="60000"/>
            </a:schemeClr>
          </a:solidFill>
          <a:ln>
            <a:solidFill>
              <a:schemeClr val="accent4">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ar-TN" sz="2400" b="1" dirty="0">
                <a:solidFill>
                  <a:srgbClr val="FF0000"/>
                </a:solidFill>
                <a:latin typeface="Sakkal Majalla" panose="02000000000000000000" pitchFamily="2" charset="-78"/>
                <a:cs typeface="Sakkal Majalla" panose="02000000000000000000" pitchFamily="2" charset="-78"/>
              </a:rPr>
              <a:t>"سفراء الشباب العرب": </a:t>
            </a:r>
            <a:r>
              <a:rPr lang="ar-TN" sz="2400" b="1" dirty="0">
                <a:latin typeface="Sakkal Majalla" panose="02000000000000000000" pitchFamily="2" charset="-78"/>
                <a:cs typeface="Sakkal Majalla" panose="02000000000000000000" pitchFamily="2" charset="-78"/>
              </a:rPr>
              <a:t>يهدف إلى لفت أنظار العالم على الثروات الشبابية الحقيقية في العالم العربي.</a:t>
            </a:r>
            <a:endParaRPr lang="en-US" sz="2400" b="1" dirty="0">
              <a:latin typeface="Sakkal Majalla" panose="02000000000000000000" pitchFamily="2" charset="-78"/>
              <a:cs typeface="Sakkal Majalla" panose="02000000000000000000" pitchFamily="2" charset="-78"/>
            </a:endParaRPr>
          </a:p>
        </p:txBody>
      </p:sp>
      <p:sp>
        <p:nvSpPr>
          <p:cNvPr id="8" name="Rectangle 7"/>
          <p:cNvSpPr/>
          <p:nvPr/>
        </p:nvSpPr>
        <p:spPr>
          <a:xfrm>
            <a:off x="1081827" y="2813731"/>
            <a:ext cx="8603086" cy="965854"/>
          </a:xfrm>
          <a:prstGeom prst="rect">
            <a:avLst/>
          </a:prstGeom>
          <a:solidFill>
            <a:schemeClr val="accent4">
              <a:lumMod val="40000"/>
              <a:lumOff val="60000"/>
            </a:schemeClr>
          </a:solidFill>
          <a:ln>
            <a:solidFill>
              <a:schemeClr val="accent4">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TN" sz="2400" b="1" dirty="0">
                <a:solidFill>
                  <a:srgbClr val="FF0000"/>
                </a:solidFill>
                <a:latin typeface="Sakkal Majalla" panose="02000000000000000000" pitchFamily="2" charset="-78"/>
                <a:cs typeface="Sakkal Majalla" panose="02000000000000000000" pitchFamily="2" charset="-78"/>
              </a:rPr>
              <a:t>"نموذج جلسات الأمم المتحدة": </a:t>
            </a:r>
            <a:r>
              <a:rPr lang="ar-TN" sz="2400" b="1" dirty="0">
                <a:latin typeface="Sakkal Majalla" panose="02000000000000000000" pitchFamily="2" charset="-78"/>
                <a:cs typeface="Sakkal Majalla" panose="02000000000000000000" pitchFamily="2" charset="-78"/>
              </a:rPr>
              <a:t>نموذج مصغّر يحاكي جلسات الأمم المتّحدة؛ ويهدف إلى إشاعة ثقافة الحوار والتعايش، وغيرها.</a:t>
            </a:r>
            <a:endParaRPr lang="en-US" sz="2400" b="1" dirty="0">
              <a:latin typeface="Sakkal Majalla" panose="02000000000000000000" pitchFamily="2" charset="-78"/>
              <a:cs typeface="Sakkal Majalla" panose="02000000000000000000" pitchFamily="2" charset="-78"/>
            </a:endParaRPr>
          </a:p>
        </p:txBody>
      </p:sp>
      <p:sp>
        <p:nvSpPr>
          <p:cNvPr id="9" name="Rectangle 8"/>
          <p:cNvSpPr/>
          <p:nvPr/>
        </p:nvSpPr>
        <p:spPr>
          <a:xfrm>
            <a:off x="1081827" y="3891486"/>
            <a:ext cx="8603086" cy="682584"/>
          </a:xfrm>
          <a:prstGeom prst="rect">
            <a:avLst/>
          </a:prstGeom>
          <a:solidFill>
            <a:schemeClr val="accent4">
              <a:lumMod val="40000"/>
              <a:lumOff val="60000"/>
            </a:schemeClr>
          </a:solidFill>
          <a:ln>
            <a:solidFill>
              <a:schemeClr val="accent4">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TN" sz="2400" b="1" dirty="0">
                <a:solidFill>
                  <a:srgbClr val="FF0000"/>
                </a:solidFill>
                <a:latin typeface="Sakkal Majalla" panose="02000000000000000000" pitchFamily="2" charset="-78"/>
                <a:cs typeface="Sakkal Majalla" panose="02000000000000000000" pitchFamily="2" charset="-78"/>
              </a:rPr>
              <a:t>برنامج "كفاءات": </a:t>
            </a:r>
            <a:r>
              <a:rPr lang="ar-TN" sz="2400" b="1" dirty="0">
                <a:latin typeface="Sakkal Majalla" panose="02000000000000000000" pitchFamily="2" charset="-78"/>
                <a:cs typeface="Sakkal Majalla" panose="02000000000000000000" pitchFamily="2" charset="-78"/>
              </a:rPr>
              <a:t>يستهدف تأهيل قيادات المراكز الشبابيّة.</a:t>
            </a:r>
            <a:endParaRPr lang="en-US" sz="2400" b="1" dirty="0">
              <a:latin typeface="Sakkal Majalla" panose="02000000000000000000" pitchFamily="2" charset="-78"/>
              <a:cs typeface="Sakkal Majalla" panose="02000000000000000000" pitchFamily="2" charset="-78"/>
            </a:endParaRPr>
          </a:p>
        </p:txBody>
      </p:sp>
      <p:sp>
        <p:nvSpPr>
          <p:cNvPr id="10" name="Rectangle 9"/>
          <p:cNvSpPr/>
          <p:nvPr/>
        </p:nvSpPr>
        <p:spPr>
          <a:xfrm>
            <a:off x="1081827" y="5264637"/>
            <a:ext cx="8603086" cy="811265"/>
          </a:xfrm>
          <a:prstGeom prst="rect">
            <a:avLst/>
          </a:prstGeom>
          <a:solidFill>
            <a:schemeClr val="accent4">
              <a:lumMod val="40000"/>
              <a:lumOff val="60000"/>
            </a:schemeClr>
          </a:solidFill>
          <a:ln>
            <a:solidFill>
              <a:schemeClr val="accent4">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TN" sz="2400" b="1" dirty="0">
                <a:solidFill>
                  <a:srgbClr val="FF0000"/>
                </a:solidFill>
                <a:latin typeface="Sakkal Majalla" panose="02000000000000000000" pitchFamily="2" charset="-78"/>
                <a:cs typeface="Sakkal Majalla" panose="02000000000000000000" pitchFamily="2" charset="-78"/>
              </a:rPr>
              <a:t>برنامج "تكاتف": </a:t>
            </a:r>
            <a:r>
              <a:rPr lang="ar-TN" sz="2400" b="1" dirty="0">
                <a:latin typeface="Sakkal Majalla" panose="02000000000000000000" pitchFamily="2" charset="-78"/>
                <a:cs typeface="Sakkal Majalla" panose="02000000000000000000" pitchFamily="2" charset="-78"/>
              </a:rPr>
              <a:t>يهدف إلى توعية الشباب بآفة المخدّرات، وتمكينهم من ممارسة أنشطة للوقاية منها.</a:t>
            </a:r>
            <a:endParaRPr lang="en-US" sz="2400" b="1" dirty="0">
              <a:latin typeface="Sakkal Majalla" panose="02000000000000000000" pitchFamily="2" charset="-78"/>
              <a:cs typeface="Sakkal Majalla" panose="02000000000000000000" pitchFamily="2" charset="-78"/>
            </a:endParaRPr>
          </a:p>
        </p:txBody>
      </p:sp>
      <p:sp>
        <p:nvSpPr>
          <p:cNvPr id="3" name="Rectangle 2"/>
          <p:cNvSpPr/>
          <p:nvPr/>
        </p:nvSpPr>
        <p:spPr>
          <a:xfrm>
            <a:off x="1081827" y="4685971"/>
            <a:ext cx="8603086" cy="465578"/>
          </a:xfrm>
          <a:prstGeom prst="rect">
            <a:avLst/>
          </a:prstGeom>
          <a:solidFill>
            <a:schemeClr val="accent4">
              <a:lumMod val="40000"/>
              <a:lumOff val="60000"/>
            </a:schemeClr>
          </a:solidFill>
          <a:ln>
            <a:solidFill>
              <a:schemeClr val="accent4">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ar-TN" sz="2400" b="1" dirty="0">
                <a:solidFill>
                  <a:srgbClr val="FF0000"/>
                </a:solidFill>
                <a:latin typeface="Sakkal Majalla" panose="02000000000000000000" pitchFamily="2" charset="-78"/>
                <a:cs typeface="Sakkal Majalla" panose="02000000000000000000" pitchFamily="2" charset="-78"/>
              </a:rPr>
              <a:t>برنامج </a:t>
            </a:r>
            <a:r>
              <a:rPr lang="ar-BH" sz="2400" b="1" dirty="0">
                <a:solidFill>
                  <a:srgbClr val="FF0000"/>
                </a:solidFill>
                <a:latin typeface="Sakkal Majalla" panose="02000000000000000000" pitchFamily="2" charset="-78"/>
                <a:cs typeface="Sakkal Majalla" panose="02000000000000000000" pitchFamily="2" charset="-78"/>
              </a:rPr>
              <a:t>«قدرات»: </a:t>
            </a:r>
            <a:r>
              <a:rPr lang="ar-BH" sz="2400" b="1" dirty="0">
                <a:latin typeface="Sakkal Majalla" panose="02000000000000000000" pitchFamily="2" charset="-78"/>
                <a:cs typeface="Sakkal Majalla" panose="02000000000000000000" pitchFamily="2" charset="-78"/>
              </a:rPr>
              <a:t>يستهدف بناء قدرات الشباب البحريني من الجنسين وذوي الاحتياجات الخاصة.</a:t>
            </a:r>
            <a:endParaRPr lang="en-US" sz="24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0056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6">
            <a:extLst>
              <a:ext uri="{FF2B5EF4-FFF2-40B4-BE49-F238E27FC236}">
                <a16:creationId xmlns:a16="http://schemas.microsoft.com/office/drawing/2014/main" id="{08B25958-FB96-4329-9207-5207919AE353}"/>
              </a:ext>
            </a:extLst>
          </p:cNvPr>
          <p:cNvSpPr/>
          <p:nvPr/>
        </p:nvSpPr>
        <p:spPr>
          <a:xfrm>
            <a:off x="172038" y="53817"/>
            <a:ext cx="3850783" cy="646331"/>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
        <p:nvSpPr>
          <p:cNvPr id="5" name="Oval 4"/>
          <p:cNvSpPr/>
          <p:nvPr/>
        </p:nvSpPr>
        <p:spPr>
          <a:xfrm>
            <a:off x="3537153" y="653979"/>
            <a:ext cx="4790941" cy="1118160"/>
          </a:xfrm>
          <a:prstGeom prst="ellipse">
            <a:avLst/>
          </a:prstGeom>
          <a:solidFill>
            <a:srgbClr val="CE56C0"/>
          </a:solidFill>
          <a:ln>
            <a:solidFill>
              <a:srgbClr val="C63AB5"/>
            </a:solidFill>
          </a:ln>
        </p:spPr>
        <p:style>
          <a:lnRef idx="2">
            <a:schemeClr val="dk1"/>
          </a:lnRef>
          <a:fillRef idx="1">
            <a:schemeClr val="lt1"/>
          </a:fillRef>
          <a:effectRef idx="0">
            <a:schemeClr val="dk1"/>
          </a:effectRef>
          <a:fontRef idx="minor">
            <a:schemeClr val="dk1"/>
          </a:fontRef>
        </p:style>
        <p:txBody>
          <a:bodyPr rtlCol="0" anchor="ctr"/>
          <a:lstStyle/>
          <a:p>
            <a:pPr algn="ctr" rtl="1"/>
            <a:r>
              <a:rPr lang="ar-TN" sz="2600" b="1" dirty="0">
                <a:solidFill>
                  <a:schemeClr val="tx1"/>
                </a:solidFill>
                <a:latin typeface="Sakkal Majalla" panose="02000000000000000000" pitchFamily="2" charset="-78"/>
                <a:cs typeface="Sakkal Majalla" panose="02000000000000000000" pitchFamily="2" charset="-78"/>
              </a:rPr>
              <a:t>رعاية الشباب البحريني في صالح الوطن والمواطن:</a:t>
            </a:r>
            <a:endParaRPr lang="en-US" sz="2600" b="1" dirty="0">
              <a:solidFill>
                <a:schemeClr val="tx1"/>
              </a:solidFill>
              <a:latin typeface="Sakkal Majalla" panose="02000000000000000000" pitchFamily="2" charset="-78"/>
              <a:cs typeface="Sakkal Majalla" panose="02000000000000000000" pitchFamily="2" charset="-78"/>
            </a:endParaRPr>
          </a:p>
        </p:txBody>
      </p:sp>
      <p:sp>
        <p:nvSpPr>
          <p:cNvPr id="6" name="Rounded Rectangle 5"/>
          <p:cNvSpPr/>
          <p:nvPr/>
        </p:nvSpPr>
        <p:spPr>
          <a:xfrm>
            <a:off x="5266404" y="2185056"/>
            <a:ext cx="1332440" cy="590785"/>
          </a:xfrm>
          <a:prstGeom prst="roundRect">
            <a:avLst/>
          </a:prstGeom>
          <a:solidFill>
            <a:srgbClr val="92D050"/>
          </a:solidFill>
          <a:ln w="28575" cap="flat" cmpd="sng" algn="ctr">
            <a:solidFill>
              <a:srgbClr val="92D050"/>
            </a:solidFill>
            <a:prstDash val="solid"/>
            <a:miter lim="800000"/>
          </a:ln>
          <a:effectLst>
            <a:innerShdw blurRad="63500" dist="50800" dir="5400000">
              <a:prstClr val="black">
                <a:alpha val="50000"/>
              </a:prstClr>
            </a:inn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lvl="0" algn="ctr" rtl="1"/>
            <a:r>
              <a:rPr lang="ar-BH" sz="3200" b="1" dirty="0">
                <a:latin typeface="Sakkal Majalla" panose="02000000000000000000" pitchFamily="2" charset="-78"/>
                <a:cs typeface="Sakkal Majalla" panose="02000000000000000000" pitchFamily="2" charset="-78"/>
                <a:sym typeface="Wingdings" panose="05000000000000000000" pitchFamily="2" charset="2"/>
              </a:rPr>
              <a:t>لأنها:</a:t>
            </a:r>
            <a:endParaRPr lang="en-US" sz="3200" b="1" dirty="0">
              <a:latin typeface="Sakkal Majalla" panose="02000000000000000000" pitchFamily="2" charset="-78"/>
              <a:cs typeface="Sakkal Majalla" panose="02000000000000000000" pitchFamily="2" charset="-78"/>
            </a:endParaRPr>
          </a:p>
        </p:txBody>
      </p:sp>
      <p:sp>
        <p:nvSpPr>
          <p:cNvPr id="7" name="Rounded Rectangle 6"/>
          <p:cNvSpPr/>
          <p:nvPr/>
        </p:nvSpPr>
        <p:spPr>
          <a:xfrm>
            <a:off x="8538693" y="3162401"/>
            <a:ext cx="3209470" cy="1705813"/>
          </a:xfrm>
          <a:prstGeom prst="round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chemeClr val="tx1"/>
                </a:solidFill>
                <a:latin typeface="Sakkal Majalla" panose="02000000000000000000" pitchFamily="2" charset="-78"/>
                <a:cs typeface="Sakkal Majalla" panose="02000000000000000000" pitchFamily="2" charset="-78"/>
              </a:rPr>
              <a:t>تخلق جيل شبابي مثقّف منفتح ومتسامح.</a:t>
            </a:r>
          </a:p>
        </p:txBody>
      </p:sp>
      <p:sp>
        <p:nvSpPr>
          <p:cNvPr id="8" name="Rounded Rectangle 7"/>
          <p:cNvSpPr/>
          <p:nvPr/>
        </p:nvSpPr>
        <p:spPr>
          <a:xfrm>
            <a:off x="4215199" y="3162401"/>
            <a:ext cx="3434851" cy="1680055"/>
          </a:xfrm>
          <a:prstGeom prst="round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chemeClr val="tx1"/>
                </a:solidFill>
                <a:latin typeface="Sakkal Majalla" panose="02000000000000000000" pitchFamily="2" charset="-78"/>
                <a:cs typeface="Sakkal Majalla" panose="02000000000000000000" pitchFamily="2" charset="-78"/>
              </a:rPr>
              <a:t>تستثمر الطاقات الشبابيّة في ازدهار البلد.</a:t>
            </a:r>
          </a:p>
        </p:txBody>
      </p:sp>
      <p:sp>
        <p:nvSpPr>
          <p:cNvPr id="9" name="Rounded Rectangle 8"/>
          <p:cNvSpPr/>
          <p:nvPr/>
        </p:nvSpPr>
        <p:spPr>
          <a:xfrm>
            <a:off x="357978" y="3162401"/>
            <a:ext cx="3209470" cy="1705813"/>
          </a:xfrm>
          <a:prstGeom prst="roundRect">
            <a:avLst/>
          </a:prstGeom>
          <a:solidFill>
            <a:srgbClr val="FADAEC"/>
          </a:solidFill>
          <a:ln>
            <a:solidFill>
              <a:srgbClr val="FADAEC"/>
            </a:solidFill>
          </a:ln>
        </p:spPr>
        <p:style>
          <a:lnRef idx="2">
            <a:schemeClr val="dk1"/>
          </a:lnRef>
          <a:fillRef idx="1">
            <a:schemeClr val="lt1"/>
          </a:fillRef>
          <a:effectRef idx="0">
            <a:schemeClr val="dk1"/>
          </a:effectRef>
          <a:fontRef idx="minor">
            <a:schemeClr val="dk1"/>
          </a:fontRef>
        </p:style>
        <p:txBody>
          <a:bodyPr rtlCol="0" anchor="ctr"/>
          <a:lstStyle/>
          <a:p>
            <a:pPr algn="justLow" rtl="1"/>
            <a:r>
              <a:rPr lang="ar-BH" sz="2400" b="1" dirty="0">
                <a:solidFill>
                  <a:schemeClr val="tx1"/>
                </a:solidFill>
                <a:latin typeface="Sakkal Majalla" panose="02000000000000000000" pitchFamily="2" charset="-78"/>
                <a:cs typeface="Sakkal Majalla" panose="02000000000000000000" pitchFamily="2" charset="-78"/>
              </a:rPr>
              <a:t>تبرز السمعة الطيّبة للشباب البحريني على الصعيد العالمي.</a:t>
            </a:r>
          </a:p>
        </p:txBody>
      </p:sp>
    </p:spTree>
    <p:extLst>
      <p:ext uri="{BB962C8B-B14F-4D97-AF65-F5344CB8AC3E}">
        <p14:creationId xmlns:p14="http://schemas.microsoft.com/office/powerpoint/2010/main" val="111138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80">
                                          <p:stCondLst>
                                            <p:cond delay="0"/>
                                          </p:stCondLst>
                                        </p:cTn>
                                        <p:tgtEl>
                                          <p:spTgt spid="6"/>
                                        </p:tgtEl>
                                      </p:cBhvr>
                                    </p:animEffect>
                                    <p:anim calcmode="lin" valueType="num">
                                      <p:cBhvr>
                                        <p:cTn id="15"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0" dur="26">
                                          <p:stCondLst>
                                            <p:cond delay="650"/>
                                          </p:stCondLst>
                                        </p:cTn>
                                        <p:tgtEl>
                                          <p:spTgt spid="6"/>
                                        </p:tgtEl>
                                      </p:cBhvr>
                                      <p:to x="100000" y="60000"/>
                                    </p:animScale>
                                    <p:animScale>
                                      <p:cBhvr>
                                        <p:cTn id="21" dur="166" decel="50000">
                                          <p:stCondLst>
                                            <p:cond delay="676"/>
                                          </p:stCondLst>
                                        </p:cTn>
                                        <p:tgtEl>
                                          <p:spTgt spid="6"/>
                                        </p:tgtEl>
                                      </p:cBhvr>
                                      <p:to x="100000" y="100000"/>
                                    </p:animScale>
                                    <p:animScale>
                                      <p:cBhvr>
                                        <p:cTn id="22" dur="26">
                                          <p:stCondLst>
                                            <p:cond delay="1312"/>
                                          </p:stCondLst>
                                        </p:cTn>
                                        <p:tgtEl>
                                          <p:spTgt spid="6"/>
                                        </p:tgtEl>
                                      </p:cBhvr>
                                      <p:to x="100000" y="80000"/>
                                    </p:animScale>
                                    <p:animScale>
                                      <p:cBhvr>
                                        <p:cTn id="23" dur="166" decel="50000">
                                          <p:stCondLst>
                                            <p:cond delay="1338"/>
                                          </p:stCondLst>
                                        </p:cTn>
                                        <p:tgtEl>
                                          <p:spTgt spid="6"/>
                                        </p:tgtEl>
                                      </p:cBhvr>
                                      <p:to x="100000" y="100000"/>
                                    </p:animScale>
                                    <p:animScale>
                                      <p:cBhvr>
                                        <p:cTn id="24" dur="26">
                                          <p:stCondLst>
                                            <p:cond delay="1642"/>
                                          </p:stCondLst>
                                        </p:cTn>
                                        <p:tgtEl>
                                          <p:spTgt spid="6"/>
                                        </p:tgtEl>
                                      </p:cBhvr>
                                      <p:to x="100000" y="90000"/>
                                    </p:animScale>
                                    <p:animScale>
                                      <p:cBhvr>
                                        <p:cTn id="25" dur="166" decel="50000">
                                          <p:stCondLst>
                                            <p:cond delay="1668"/>
                                          </p:stCondLst>
                                        </p:cTn>
                                        <p:tgtEl>
                                          <p:spTgt spid="6"/>
                                        </p:tgtEl>
                                      </p:cBhvr>
                                      <p:to x="100000" y="100000"/>
                                    </p:animScale>
                                    <p:animScale>
                                      <p:cBhvr>
                                        <p:cTn id="26" dur="26">
                                          <p:stCondLst>
                                            <p:cond delay="1808"/>
                                          </p:stCondLst>
                                        </p:cTn>
                                        <p:tgtEl>
                                          <p:spTgt spid="6"/>
                                        </p:tgtEl>
                                      </p:cBhvr>
                                      <p:to x="100000" y="95000"/>
                                    </p:animScale>
                                    <p:animScale>
                                      <p:cBhvr>
                                        <p:cTn id="27" dur="166" decel="50000">
                                          <p:stCondLst>
                                            <p:cond delay="1834"/>
                                          </p:stCondLst>
                                        </p:cTn>
                                        <p:tgtEl>
                                          <p:spTgt spid="6"/>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0496281" y="160697"/>
            <a:ext cx="1459157" cy="1001474"/>
          </a:xfrm>
          <a:prstGeom prst="roundRect">
            <a:avLst/>
          </a:prstGeom>
          <a:solidFill>
            <a:schemeClr val="accent4">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pPr algn="ctr"/>
            <a:r>
              <a:rPr lang="ar-BH" sz="2800" b="1" dirty="0"/>
              <a:t>نشاط تقويمي:</a:t>
            </a:r>
            <a:endParaRPr lang="en-US" sz="2800" b="1" dirty="0"/>
          </a:p>
        </p:txBody>
      </p:sp>
      <p:sp>
        <p:nvSpPr>
          <p:cNvPr id="5" name="Rounded Rectangle 4"/>
          <p:cNvSpPr/>
          <p:nvPr/>
        </p:nvSpPr>
        <p:spPr>
          <a:xfrm>
            <a:off x="1210614" y="465366"/>
            <a:ext cx="9158225" cy="696805"/>
          </a:xfrm>
          <a:prstGeom prst="round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lvl="0" algn="ctr" rtl="1"/>
            <a:r>
              <a:rPr lang="ar-BH" sz="2000" b="1" dirty="0"/>
              <a:t>يتضمن</a:t>
            </a:r>
            <a:r>
              <a:rPr lang="ar-TN" sz="2000" b="1" dirty="0"/>
              <a:t> الجدول الآتي نماذج من حالات متّصلة بمعالجة قضايا الشباب؛ أتأمّل في الحالة ثمّ أحدّد بوضع </a:t>
            </a:r>
            <a:r>
              <a:rPr lang="ar-BH" sz="2000" b="1" dirty="0">
                <a:ea typeface="Calibri" panose="020F0502020204030204" pitchFamily="34" charset="0"/>
              </a:rPr>
              <a:t>علامة (</a:t>
            </a:r>
            <a:r>
              <a:rPr lang="en-US" sz="2000" b="1" dirty="0">
                <a:latin typeface="Arial" panose="020B0604020202020204" pitchFamily="34" charset="0"/>
                <a:ea typeface="Calibri" panose="020F0502020204030204" pitchFamily="34" charset="0"/>
              </a:rPr>
              <a:t>(</a:t>
            </a:r>
            <a:r>
              <a:rPr lang="en-US" sz="2000" b="1" dirty="0">
                <a:latin typeface="Arial" panose="020B0604020202020204" pitchFamily="34" charset="0"/>
                <a:ea typeface="Calibri" panose="020F0502020204030204" pitchFamily="34" charset="0"/>
                <a:sym typeface="Webdings" panose="05030102010509060703" pitchFamily="18" charset="2"/>
              </a:rPr>
              <a:t></a:t>
            </a:r>
            <a:r>
              <a:rPr lang="ar-BH" sz="2000" b="1" dirty="0">
                <a:latin typeface="Arial" panose="020B0604020202020204" pitchFamily="34" charset="0"/>
                <a:ea typeface="Calibri" panose="020F0502020204030204" pitchFamily="34" charset="0"/>
                <a:sym typeface="Webdings" panose="05030102010509060703" pitchFamily="18" charset="2"/>
              </a:rPr>
              <a:t> نوع المعالجة.</a:t>
            </a:r>
            <a:endParaRPr lang="en-US" sz="2000" b="1" dirty="0"/>
          </a:p>
        </p:txBody>
      </p:sp>
      <p:graphicFrame>
        <p:nvGraphicFramePr>
          <p:cNvPr id="2" name="Table 1"/>
          <p:cNvGraphicFramePr>
            <a:graphicFrameLocks noGrp="1"/>
          </p:cNvGraphicFramePr>
          <p:nvPr>
            <p:extLst>
              <p:ext uri="{D42A27DB-BD31-4B8C-83A1-F6EECF244321}">
                <p14:modId xmlns:p14="http://schemas.microsoft.com/office/powerpoint/2010/main" val="2436532127"/>
              </p:ext>
            </p:extLst>
          </p:nvPr>
        </p:nvGraphicFramePr>
        <p:xfrm>
          <a:off x="257577" y="1202253"/>
          <a:ext cx="11590987" cy="5218176"/>
        </p:xfrm>
        <a:graphic>
          <a:graphicData uri="http://schemas.openxmlformats.org/drawingml/2006/table">
            <a:tbl>
              <a:tblPr rtl="1" firstRow="1" firstCol="1" bandRow="1"/>
              <a:tblGrid>
                <a:gridCol w="8925060">
                  <a:extLst>
                    <a:ext uri="{9D8B030D-6E8A-4147-A177-3AD203B41FA5}">
                      <a16:colId xmlns:a16="http://schemas.microsoft.com/office/drawing/2014/main" val="20000"/>
                    </a:ext>
                  </a:extLst>
                </a:gridCol>
                <a:gridCol w="824248">
                  <a:extLst>
                    <a:ext uri="{9D8B030D-6E8A-4147-A177-3AD203B41FA5}">
                      <a16:colId xmlns:a16="http://schemas.microsoft.com/office/drawing/2014/main" val="20001"/>
                    </a:ext>
                  </a:extLst>
                </a:gridCol>
                <a:gridCol w="927279">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0">
                <a:tc rowSpan="3">
                  <a:txBody>
                    <a:bodyPr/>
                    <a:lstStyle/>
                    <a:p>
                      <a:pPr marL="0" marR="0" algn="ct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نماذج من حالات متّصلة بمعالجة قضايا الشباب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gridSpan="3">
                  <a:txBody>
                    <a:bodyPr/>
                    <a:lstStyle/>
                    <a:p>
                      <a:pPr marL="0" marR="0" algn="ct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نوع المعالجة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37350">
                <a:tc vMerge="1">
                  <a:txBody>
                    <a:bodyPr/>
                    <a:lstStyle/>
                    <a:p>
                      <a:endParaRPr lang="en-US"/>
                    </a:p>
                  </a:txBody>
                  <a:tcPr/>
                </a:tc>
                <a:tc gridSpan="2">
                  <a:txBody>
                    <a:bodyPr/>
                    <a:lstStyle/>
                    <a:p>
                      <a:pPr marL="0" marR="0" algn="ct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تحصين</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hMerge="1">
                  <a:txBody>
                    <a:bodyPr/>
                    <a:lstStyle/>
                    <a:p>
                      <a:endParaRPr lang="en-US"/>
                    </a:p>
                  </a:txBody>
                  <a:tcPr/>
                </a:tc>
                <a:tc rowSpan="2">
                  <a:txBody>
                    <a:bodyPr/>
                    <a:lstStyle/>
                    <a:p>
                      <a:pPr marL="0" marR="0" algn="ct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رعاية المملكة</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1"/>
                  </a:ext>
                </a:extLst>
              </a:tr>
              <a:tr h="120232">
                <a:tc vMerge="1">
                  <a:txBody>
                    <a:bodyPr/>
                    <a:lstStyle/>
                    <a:p>
                      <a:endParaRPr lang="en-US"/>
                    </a:p>
                  </a:txBody>
                  <a:tcPr/>
                </a:tc>
                <a:tc>
                  <a:txBody>
                    <a:bodyPr/>
                    <a:lstStyle/>
                    <a:p>
                      <a:pPr marL="0" marR="0" algn="ct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ذاتي</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مجتمعي</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vMerge="1">
                  <a:txBody>
                    <a:bodyPr/>
                    <a:lstStyle/>
                    <a:p>
                      <a:endParaRPr lang="en-US"/>
                    </a:p>
                  </a:txBody>
                  <a:tcPr/>
                </a:tc>
                <a:extLst>
                  <a:ext uri="{0D108BD9-81ED-4DB2-BD59-A6C34878D82A}">
                    <a16:rowId xmlns:a16="http://schemas.microsoft.com/office/drawing/2014/main" val="10002"/>
                  </a:ext>
                </a:extLst>
              </a:tr>
              <a:tr h="270873">
                <a:tc>
                  <a:txBody>
                    <a:bodyPr/>
                    <a:lstStyle/>
                    <a:p>
                      <a:pPr marL="0" marR="0" algn="just"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نص الدستور:" تعنى الدولة خاصة بنمو الشباب البدني والخلقي والعقلي".</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3"/>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جائزة الملك حمد (حفظه الله ورعاه) لتمكين الشباب لتحقيق أهداف التنمية المستدامة.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4"/>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قيام رب الأسرة </a:t>
                      </a:r>
                      <a:r>
                        <a:rPr lang="ar-BH" sz="2000" b="1" dirty="0">
                          <a:effectLst/>
                          <a:latin typeface="Calibri" panose="020F0502020204030204" pitchFamily="34" charset="0"/>
                          <a:ea typeface="Calibri" panose="020F0502020204030204" pitchFamily="34" charset="0"/>
                          <a:cs typeface="Arial" panose="020B0604020202020204" pitchFamily="34" charset="0"/>
                        </a:rPr>
                        <a:t>بتفعيل خاصيّة الرقابة الأبويّة في مواقع التواصل الحديثة.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5"/>
                  </a:ext>
                </a:extLst>
              </a:tr>
              <a:tr h="137350">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قرار الشاب بمواصلة الدراسة الجامعيّة.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6"/>
                  </a:ext>
                </a:extLst>
              </a:tr>
              <a:tr h="137350">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برنامج سموّ ولي العهد (حفظه الله) للمنح الدراسيّة.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7"/>
                  </a:ext>
                </a:extLst>
              </a:tr>
              <a:tr h="137350">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تشجيع الأصدقاء صديقهم الشاب للالتحاق بنادي صحّي.</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8"/>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إقامة برامج شبابيّة ودورات رياضيّة وجوائز من قبل أنجال جلالة الملك حمد حفظهم الله.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9"/>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تأثّر الشاب بالأعراف والتقاليد الحميدة السائدة في محيطه المحلّي.</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0"/>
                  </a:ext>
                </a:extLst>
              </a:tr>
              <a:tr h="137350">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حظر التدخين في الأماكن العامّة.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1"/>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تزوّد الشاب بالوعي الكافي والتفكير الناقد وعدم انسياقه لخطابات الكراهية والتطرّف.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2"/>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توجيه بعض المؤسّسات</a:t>
                      </a:r>
                      <a:r>
                        <a:rPr lang="ar-BH" sz="2000" b="1" dirty="0">
                          <a:effectLst/>
                          <a:latin typeface="Calibri" panose="020F0502020204030204" pitchFamily="34" charset="0"/>
                          <a:ea typeface="Calibri" panose="020F0502020204030204" pitchFamily="34" charset="0"/>
                          <a:cs typeface="Arial" panose="020B0604020202020204" pitchFamily="34" charset="0"/>
                        </a:rPr>
                        <a:t> الأهلية</a:t>
                      </a:r>
                      <a:r>
                        <a:rPr lang="ar-SA" sz="2000" b="1" dirty="0">
                          <a:effectLst/>
                          <a:latin typeface="Calibri" panose="020F0502020204030204" pitchFamily="34" charset="0"/>
                          <a:ea typeface="Calibri" panose="020F0502020204030204" pitchFamily="34" charset="0"/>
                          <a:cs typeface="Arial" panose="020B0604020202020204" pitchFamily="34" charset="0"/>
                        </a:rPr>
                        <a:t> رسائل تحذيريّة من مواقع وروابط إلكترونيّة ضارّة.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3"/>
                  </a:ext>
                </a:extLst>
              </a:tr>
              <a:tr h="270873">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احتفاليّة وزارة شؤون الشباب والرياضة باليوم الدولي للشباب 2017 " تحت شعار سلام من صنع الشباب".</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4"/>
                  </a:ext>
                </a:extLst>
              </a:tr>
              <a:tr h="270873">
                <a:tc>
                  <a:txBody>
                    <a:bodyPr/>
                    <a:lstStyle/>
                    <a:p>
                      <a:pPr marL="0" marR="0" indent="0" algn="r" defTabSz="914400" rtl="1" eaLnBrk="1" fontAlgn="auto" latinLnBrk="0" hangingPunct="1">
                        <a:lnSpc>
                          <a:spcPct val="107000"/>
                        </a:lnSpc>
                        <a:spcBef>
                          <a:spcPts val="0"/>
                        </a:spcBef>
                        <a:spcAft>
                          <a:spcPts val="0"/>
                        </a:spcAft>
                        <a:buClrTx/>
                        <a:buSzTx/>
                        <a:buFontTx/>
                        <a:buNone/>
                        <a:tabLst/>
                        <a:defRPr/>
                      </a:pPr>
                      <a:r>
                        <a:rPr lang="ar-SA" sz="2000" b="1" kern="1200" dirty="0">
                          <a:solidFill>
                            <a:schemeClr val="tx1"/>
                          </a:solidFill>
                          <a:effectLst/>
                          <a:latin typeface="+mn-lt"/>
                          <a:ea typeface="+mn-ea"/>
                          <a:cs typeface="+mn-cs"/>
                        </a:rPr>
                        <a:t>تصميم الشاب على اتّباع نظام غذائي </a:t>
                      </a:r>
                      <a:r>
                        <a:rPr lang="ar-SA" sz="2000" b="1" kern="1200">
                          <a:solidFill>
                            <a:schemeClr val="tx1"/>
                          </a:solidFill>
                          <a:effectLst/>
                          <a:latin typeface="+mn-lt"/>
                          <a:ea typeface="+mn-ea"/>
                          <a:cs typeface="+mn-cs"/>
                        </a:rPr>
                        <a:t>صحّي.</a:t>
                      </a:r>
                      <a:endParaRPr lang="en-US" sz="24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 </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5"/>
                  </a:ext>
                </a:extLst>
              </a:tr>
            </a:tbl>
          </a:graphicData>
        </a:graphic>
      </p:graphicFrame>
      <p:sp>
        <p:nvSpPr>
          <p:cNvPr id="7" name="مستطيل 6">
            <a:extLst>
              <a:ext uri="{FF2B5EF4-FFF2-40B4-BE49-F238E27FC236}">
                <a16:creationId xmlns:a16="http://schemas.microsoft.com/office/drawing/2014/main" id="{08B25958-FB96-4329-9207-5207919AE353}"/>
              </a:ext>
            </a:extLst>
          </p:cNvPr>
          <p:cNvSpPr/>
          <p:nvPr/>
        </p:nvSpPr>
        <p:spPr>
          <a:xfrm>
            <a:off x="172038" y="53817"/>
            <a:ext cx="5739365" cy="369332"/>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1575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0006115" y="237969"/>
            <a:ext cx="2047165" cy="941696"/>
          </a:xfrm>
          <a:prstGeom prst="roundRect">
            <a:avLst/>
          </a:prstGeom>
          <a:solidFill>
            <a:schemeClr val="accent4">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pPr algn="ctr"/>
            <a:r>
              <a:rPr lang="ar-BH" sz="2800" b="1" dirty="0"/>
              <a:t>نشاط تقويمي: الإجابة</a:t>
            </a:r>
            <a:endParaRPr lang="en-US" sz="2800" b="1" dirty="0"/>
          </a:p>
        </p:txBody>
      </p:sp>
      <p:sp>
        <p:nvSpPr>
          <p:cNvPr id="5" name="Rounded Rectangle 4"/>
          <p:cNvSpPr/>
          <p:nvPr/>
        </p:nvSpPr>
        <p:spPr>
          <a:xfrm>
            <a:off x="811178" y="469981"/>
            <a:ext cx="9048465" cy="709684"/>
          </a:xfrm>
          <a:prstGeom prst="round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lvl="0" algn="ctr" rtl="1"/>
            <a:r>
              <a:rPr lang="ar-BH" sz="2000" b="1" dirty="0">
                <a:solidFill>
                  <a:prstClr val="black"/>
                </a:solidFill>
              </a:rPr>
              <a:t>يتضمن</a:t>
            </a:r>
            <a:r>
              <a:rPr lang="ar-TN" sz="2000" b="1" dirty="0">
                <a:solidFill>
                  <a:prstClr val="black"/>
                </a:solidFill>
              </a:rPr>
              <a:t> الجدول الآتي نماذج من حالات متّصلة بمعالجة قضايا الشباب؛ أتأمّل في الحالة ثمّ أحدّد بوضع </a:t>
            </a:r>
            <a:r>
              <a:rPr lang="ar-BH" sz="2000" b="1" dirty="0">
                <a:solidFill>
                  <a:prstClr val="black"/>
                </a:solidFill>
                <a:ea typeface="Calibri" panose="020F0502020204030204" pitchFamily="34" charset="0"/>
              </a:rPr>
              <a:t>علامة (</a:t>
            </a:r>
            <a:r>
              <a:rPr lang="en-US" sz="2000" b="1" dirty="0">
                <a:solidFill>
                  <a:prstClr val="black"/>
                </a:solidFill>
                <a:latin typeface="Arial" panose="020B0604020202020204" pitchFamily="34" charset="0"/>
                <a:ea typeface="Calibri" panose="020F0502020204030204" pitchFamily="34" charset="0"/>
              </a:rPr>
              <a:t>(</a:t>
            </a:r>
            <a:r>
              <a:rPr lang="en-US" sz="2000" b="1" dirty="0">
                <a:solidFill>
                  <a:prstClr val="black"/>
                </a:solidFill>
                <a:latin typeface="Arial" panose="020B0604020202020204" pitchFamily="34" charset="0"/>
                <a:ea typeface="Calibri" panose="020F0502020204030204" pitchFamily="34" charset="0"/>
                <a:sym typeface="Webdings" panose="05030102010509060703" pitchFamily="18" charset="2"/>
              </a:rPr>
              <a:t></a:t>
            </a:r>
            <a:r>
              <a:rPr lang="ar-BH" sz="2000" b="1" dirty="0">
                <a:solidFill>
                  <a:prstClr val="black"/>
                </a:solidFill>
                <a:latin typeface="Arial" panose="020B0604020202020204" pitchFamily="34" charset="0"/>
                <a:ea typeface="Calibri" panose="020F0502020204030204" pitchFamily="34" charset="0"/>
                <a:sym typeface="Webdings" panose="05030102010509060703" pitchFamily="18" charset="2"/>
              </a:rPr>
              <a:t> نوع المعالجة.</a:t>
            </a:r>
            <a:endParaRPr lang="en-US" sz="2000" b="1" dirty="0">
              <a:solidFill>
                <a:prstClr val="black"/>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1198811586"/>
              </p:ext>
            </p:extLst>
          </p:nvPr>
        </p:nvGraphicFramePr>
        <p:xfrm>
          <a:off x="257577" y="1240890"/>
          <a:ext cx="11590987" cy="5218176"/>
        </p:xfrm>
        <a:graphic>
          <a:graphicData uri="http://schemas.openxmlformats.org/drawingml/2006/table">
            <a:tbl>
              <a:tblPr rtl="1" firstRow="1" firstCol="1" bandRow="1"/>
              <a:tblGrid>
                <a:gridCol w="8925060">
                  <a:extLst>
                    <a:ext uri="{9D8B030D-6E8A-4147-A177-3AD203B41FA5}">
                      <a16:colId xmlns:a16="http://schemas.microsoft.com/office/drawing/2014/main" val="20000"/>
                    </a:ext>
                  </a:extLst>
                </a:gridCol>
                <a:gridCol w="824248">
                  <a:extLst>
                    <a:ext uri="{9D8B030D-6E8A-4147-A177-3AD203B41FA5}">
                      <a16:colId xmlns:a16="http://schemas.microsoft.com/office/drawing/2014/main" val="20001"/>
                    </a:ext>
                  </a:extLst>
                </a:gridCol>
                <a:gridCol w="927279">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0">
                <a:tc rowSpan="3">
                  <a:txBody>
                    <a:bodyPr/>
                    <a:lstStyle/>
                    <a:p>
                      <a:pPr marL="0" marR="0" algn="ct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نماذج من حالات متّصلة بمعالجة قضايا الشباب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gridSpan="3">
                  <a:txBody>
                    <a:bodyPr/>
                    <a:lstStyle/>
                    <a:p>
                      <a:pPr marL="0" marR="0" algn="ct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نوع المعالجة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37350">
                <a:tc vMerge="1">
                  <a:txBody>
                    <a:bodyPr/>
                    <a:lstStyle/>
                    <a:p>
                      <a:endParaRPr lang="en-US"/>
                    </a:p>
                  </a:txBody>
                  <a:tcPr/>
                </a:tc>
                <a:tc gridSpan="2">
                  <a:txBody>
                    <a:bodyPr/>
                    <a:lstStyle/>
                    <a:p>
                      <a:pPr marL="0" marR="0" algn="ct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تحصين</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hMerge="1">
                  <a:txBody>
                    <a:bodyPr/>
                    <a:lstStyle/>
                    <a:p>
                      <a:endParaRPr lang="en-US"/>
                    </a:p>
                  </a:txBody>
                  <a:tcPr/>
                </a:tc>
                <a:tc rowSpan="2">
                  <a:txBody>
                    <a:bodyPr/>
                    <a:lstStyle/>
                    <a:p>
                      <a:pPr marL="0" marR="0" algn="ct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رعاية المملكة</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1"/>
                  </a:ext>
                </a:extLst>
              </a:tr>
              <a:tr h="120232">
                <a:tc vMerge="1">
                  <a:txBody>
                    <a:bodyPr/>
                    <a:lstStyle/>
                    <a:p>
                      <a:endParaRPr lang="en-US"/>
                    </a:p>
                  </a:txBody>
                  <a:tcPr/>
                </a:tc>
                <a:tc>
                  <a:txBody>
                    <a:bodyPr/>
                    <a:lstStyle/>
                    <a:p>
                      <a:pPr marL="0" marR="0" algn="ct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ذاتي</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مجتمعي</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vMerge="1">
                  <a:txBody>
                    <a:bodyPr/>
                    <a:lstStyle/>
                    <a:p>
                      <a:endParaRPr lang="en-US"/>
                    </a:p>
                  </a:txBody>
                  <a:tcPr/>
                </a:tc>
                <a:extLst>
                  <a:ext uri="{0D108BD9-81ED-4DB2-BD59-A6C34878D82A}">
                    <a16:rowId xmlns:a16="http://schemas.microsoft.com/office/drawing/2014/main" val="10002"/>
                  </a:ext>
                </a:extLst>
              </a:tr>
              <a:tr h="270873">
                <a:tc>
                  <a:txBody>
                    <a:bodyPr/>
                    <a:lstStyle/>
                    <a:p>
                      <a:pPr marL="0" marR="0" algn="just"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نص الدستور:" تعنى الدولة خاصة بنمو الشباب البدني والخلقي والعقلي".</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3"/>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جائزة الملك حمد (حفظه الله ورعاه) لتمكين الشباب لتحقيق أهداف التنمية المستدامة.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4"/>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قيام رب الأسرة </a:t>
                      </a:r>
                      <a:r>
                        <a:rPr lang="ar-BH" sz="2000" b="1" dirty="0">
                          <a:effectLst/>
                          <a:latin typeface="Calibri" panose="020F0502020204030204" pitchFamily="34" charset="0"/>
                          <a:ea typeface="Calibri" panose="020F0502020204030204" pitchFamily="34" charset="0"/>
                          <a:cs typeface="Arial" panose="020B0604020202020204" pitchFamily="34" charset="0"/>
                        </a:rPr>
                        <a:t>بتفعيل خاصيّة الرقابة الأبويّة في مواقع التواصل الحديثة.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5"/>
                  </a:ext>
                </a:extLst>
              </a:tr>
              <a:tr h="137350">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قرار الشاب بمواصلة الدراسة الجامعيّة.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6"/>
                  </a:ext>
                </a:extLst>
              </a:tr>
              <a:tr h="137350">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برنامج سموّ ولي العهد (حفظه الله) للمنح الدراسيّة.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7"/>
                  </a:ext>
                </a:extLst>
              </a:tr>
              <a:tr h="137350">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تشجيع الأصدقاء صديقهم الشاب للالتحاق بنادي صحّي.</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8"/>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إقامة برامج شبابيّة ودورات رياضيّة وجوائز من قبل أنجال جلالة الملك حمد حفظهم الله.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09"/>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تأثّر الشاب بالأعراف والتقاليد الحميدة السائدة في محيطه المحلّي.</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0"/>
                  </a:ext>
                </a:extLst>
              </a:tr>
              <a:tr h="137350">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حظر التدخين في الأماكن العامّة.</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1"/>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تزوّد الشاب بالوعي الكافي والتفكير الناقد وعدم انسياقه لخطابات الكراهية والتطرّف.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2"/>
                  </a:ext>
                </a:extLst>
              </a:tr>
              <a:tr h="270873">
                <a:tc>
                  <a:txBody>
                    <a:bodyPr/>
                    <a:lstStyle/>
                    <a:p>
                      <a:pPr marL="0" marR="0" algn="r" rtl="1">
                        <a:lnSpc>
                          <a:spcPct val="107000"/>
                        </a:lnSpc>
                        <a:spcBef>
                          <a:spcPts val="0"/>
                        </a:spcBef>
                        <a:spcAft>
                          <a:spcPts val="0"/>
                        </a:spcAft>
                      </a:pPr>
                      <a:r>
                        <a:rPr lang="ar-SA" sz="2000" b="1" dirty="0">
                          <a:effectLst/>
                          <a:latin typeface="Calibri" panose="020F0502020204030204" pitchFamily="34" charset="0"/>
                          <a:ea typeface="Calibri" panose="020F0502020204030204" pitchFamily="34" charset="0"/>
                          <a:cs typeface="Arial" panose="020B0604020202020204" pitchFamily="34" charset="0"/>
                        </a:rPr>
                        <a:t>توجيه بعض المؤسّسات</a:t>
                      </a:r>
                      <a:r>
                        <a:rPr lang="ar-BH" sz="2000" b="1" dirty="0">
                          <a:effectLst/>
                          <a:latin typeface="Calibri" panose="020F0502020204030204" pitchFamily="34" charset="0"/>
                          <a:ea typeface="Calibri" panose="020F0502020204030204" pitchFamily="34" charset="0"/>
                          <a:cs typeface="Arial" panose="020B0604020202020204" pitchFamily="34" charset="0"/>
                        </a:rPr>
                        <a:t> الأهلية</a:t>
                      </a:r>
                      <a:r>
                        <a:rPr lang="ar-SA" sz="2000" b="1" dirty="0">
                          <a:effectLst/>
                          <a:latin typeface="Calibri" panose="020F0502020204030204" pitchFamily="34" charset="0"/>
                          <a:ea typeface="Calibri" panose="020F0502020204030204" pitchFamily="34" charset="0"/>
                          <a:cs typeface="Arial" panose="020B0604020202020204" pitchFamily="34" charset="0"/>
                        </a:rPr>
                        <a:t> رسائل تحذيريّة من مواقع وروابط إلكترونيّة ضارّة. </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3"/>
                  </a:ext>
                </a:extLst>
              </a:tr>
              <a:tr h="270873">
                <a:tc>
                  <a:txBody>
                    <a:bodyPr/>
                    <a:lstStyle/>
                    <a:p>
                      <a:pPr marL="0" marR="0" algn="r" rtl="1">
                        <a:lnSpc>
                          <a:spcPct val="107000"/>
                        </a:lnSpc>
                        <a:spcBef>
                          <a:spcPts val="0"/>
                        </a:spcBef>
                        <a:spcAft>
                          <a:spcPts val="0"/>
                        </a:spcAft>
                      </a:pPr>
                      <a:r>
                        <a:rPr lang="ar-SA" sz="2000" b="1">
                          <a:effectLst/>
                          <a:latin typeface="Calibri" panose="020F0502020204030204" pitchFamily="34" charset="0"/>
                          <a:ea typeface="Calibri" panose="020F0502020204030204" pitchFamily="34" charset="0"/>
                          <a:cs typeface="Arial" panose="020B0604020202020204" pitchFamily="34" charset="0"/>
                        </a:rPr>
                        <a:t>احتفاليّة وزارة شؤون الشباب والرياضة باليوم الدولي للشباب 2017 " تحت شعار سلام من صنع الشباب".</a:t>
                      </a:r>
                      <a:endParaRPr lang="en-US" sz="2000" b="1">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4"/>
                  </a:ext>
                </a:extLst>
              </a:tr>
              <a:tr h="270873">
                <a:tc>
                  <a:txBody>
                    <a:bodyPr/>
                    <a:lstStyle/>
                    <a:p>
                      <a:pPr marL="0" marR="0" algn="r" rtl="1">
                        <a:lnSpc>
                          <a:spcPct val="107000"/>
                        </a:lnSpc>
                        <a:spcBef>
                          <a:spcPts val="0"/>
                        </a:spcBef>
                        <a:spcAft>
                          <a:spcPts val="0"/>
                        </a:spcAft>
                      </a:pPr>
                      <a:r>
                        <a:rPr lang="ar-SA" sz="2000" b="1" kern="1200" dirty="0">
                          <a:solidFill>
                            <a:schemeClr val="tx1"/>
                          </a:solidFill>
                          <a:effectLst/>
                          <a:latin typeface="+mn-lt"/>
                          <a:ea typeface="+mn-ea"/>
                          <a:cs typeface="+mn-cs"/>
                        </a:rPr>
                        <a:t>تصميم الشاب على اتّباع نظام غذائي صحّي.</a:t>
                      </a:r>
                      <a:endParaRPr lang="en-US" sz="2400" b="1" dirty="0">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sz="2000" b="1" dirty="0">
                          <a:solidFill>
                            <a:srgbClr val="FF0000"/>
                          </a:solidFill>
                          <a:latin typeface="Arial" panose="020B0604020202020204" pitchFamily="34" charset="0"/>
                          <a:ea typeface="Calibri" panose="020F0502020204030204" pitchFamily="34" charset="0"/>
                          <a:sym typeface="Webdings" panose="05030102010509060703" pitchFamily="18" charset="2"/>
                        </a:rPr>
                        <a:t></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marL="0" marR="0" algn="ctr" rtl="1">
                        <a:lnSpc>
                          <a:spcPct val="107000"/>
                        </a:lnSpc>
                        <a:spcBef>
                          <a:spcPts val="0"/>
                        </a:spcBef>
                        <a:spcAft>
                          <a:spcPts val="0"/>
                        </a:spcAft>
                      </a:pPr>
                      <a:r>
                        <a:rPr lang="ar-SA"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45068" marR="4506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10015"/>
                  </a:ext>
                </a:extLst>
              </a:tr>
            </a:tbl>
          </a:graphicData>
        </a:graphic>
      </p:graphicFrame>
      <p:sp>
        <p:nvSpPr>
          <p:cNvPr id="6" name="مستطيل 6">
            <a:extLst>
              <a:ext uri="{FF2B5EF4-FFF2-40B4-BE49-F238E27FC236}">
                <a16:creationId xmlns:a16="http://schemas.microsoft.com/office/drawing/2014/main" id="{08B25958-FB96-4329-9207-5207919AE353}"/>
              </a:ext>
            </a:extLst>
          </p:cNvPr>
          <p:cNvSpPr/>
          <p:nvPr/>
        </p:nvSpPr>
        <p:spPr>
          <a:xfrm>
            <a:off x="172038" y="53817"/>
            <a:ext cx="5739365" cy="369332"/>
          </a:xfrm>
          <a:prstGeom prst="rect">
            <a:avLst/>
          </a:prstGeom>
          <a:solidFill>
            <a:srgbClr val="FF0000"/>
          </a:solidFill>
        </p:spPr>
        <p:txBody>
          <a:bodyPr wrap="square">
            <a:spAutoFit/>
          </a:bodyPr>
          <a:lstStyle/>
          <a:p>
            <a:pPr algn="ctr" rtl="1"/>
            <a:r>
              <a:rPr lang="ar-BH" b="1" dirty="0">
                <a:solidFill>
                  <a:schemeClr val="bg1"/>
                </a:solidFill>
                <a:latin typeface="Sakkal Majalla" panose="02000000000000000000" pitchFamily="2" charset="-78"/>
                <a:cs typeface="Sakkal Majalla" panose="02000000000000000000" pitchFamily="2" charset="-78"/>
              </a:rPr>
              <a:t>البعد الاجتماعي للمواطنة في مملكة البحرين (1): قضايا الشباب نموذجًا– وطن 201</a:t>
            </a:r>
            <a:endParaRPr lang="ar-BH" dirty="0">
              <a:solidFill>
                <a:schemeClr val="bg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9485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821375" y="1910687"/>
            <a:ext cx="4449170" cy="249754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ar-BH" sz="4000" b="1" dirty="0"/>
              <a:t>انتهى الدرس</a:t>
            </a:r>
          </a:p>
          <a:p>
            <a:pPr algn="ctr"/>
            <a:endParaRPr lang="ar-BH" dirty="0"/>
          </a:p>
          <a:p>
            <a:pPr algn="ctr"/>
            <a:r>
              <a:rPr lang="ar-BH" sz="4000" b="1" dirty="0"/>
              <a:t>شكرا على حسن المتابعة</a:t>
            </a:r>
            <a:endParaRPr lang="en-US" sz="4000" b="1" dirty="0"/>
          </a:p>
        </p:txBody>
      </p:sp>
    </p:spTree>
    <p:extLst>
      <p:ext uri="{BB962C8B-B14F-4D97-AF65-F5344CB8AC3E}">
        <p14:creationId xmlns:p14="http://schemas.microsoft.com/office/powerpoint/2010/main" val="402139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9B6F7093-7B83-4D0A-BC1F-683D122F6A48}" vid="{1FAA4335-E554-4125-ACCC-D1CCCAA2166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مستند" ma:contentTypeID="0x010100EDB7540F006FBA4F812F8898FE3CA1B4" ma:contentTypeVersion="2" ma:contentTypeDescription="إنشاء مستند جديد." ma:contentTypeScope="" ma:versionID="a5ec66d1fe0bb99e325d0a5e64a27ac6">
  <xsd:schema xmlns:xsd="http://www.w3.org/2001/XMLSchema" xmlns:xs="http://www.w3.org/2001/XMLSchema" xmlns:p="http://schemas.microsoft.com/office/2006/metadata/properties" xmlns:ns2="6d2b149d-cbe6-4f4f-8d0f-70c235703237" targetNamespace="http://schemas.microsoft.com/office/2006/metadata/properties" ma:root="true" ma:fieldsID="60e79be7c569b8f4e6e0175e03099b3b" ns2:_="">
    <xsd:import namespace="6d2b149d-cbe6-4f4f-8d0f-70c235703237"/>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2b149d-cbe6-4f4f-8d0f-70c2357032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نوع المحتوى"/>
        <xsd:element ref="dc:title" minOccurs="0" maxOccurs="1" ma:index="4" ma:displayName="العنوان"/>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451E29-893B-488C-8747-6C159AA332B6}">
  <ds:schemaRefs>
    <ds:schemaRef ds:uri="http://schemas.microsoft.com/office/2006/metadata/properties"/>
    <ds:schemaRef ds:uri="http://www.w3.org/2000/xmlns/"/>
  </ds:schemaRefs>
</ds:datastoreItem>
</file>

<file path=customXml/itemProps2.xml><?xml version="1.0" encoding="utf-8"?>
<ds:datastoreItem xmlns:ds="http://schemas.openxmlformats.org/officeDocument/2006/customXml" ds:itemID="{C2C0B668-48B7-48D7-A0BC-739ACFFB38EC}">
  <ds:schemaRefs>
    <ds:schemaRef ds:uri="http://schemas.microsoft.com/sharepoint/v3/contenttype/forms"/>
  </ds:schemaRefs>
</ds:datastoreItem>
</file>

<file path=customXml/itemProps3.xml><?xml version="1.0" encoding="utf-8"?>
<ds:datastoreItem xmlns:ds="http://schemas.openxmlformats.org/officeDocument/2006/customXml" ds:itemID="{5BA343F0-E133-4D8B-B9E3-4F90A912511B}">
  <ds:schemaRefs>
    <ds:schemaRef ds:uri="http://schemas.microsoft.com/office/2006/metadata/contentType"/>
    <ds:schemaRef ds:uri="http://schemas.microsoft.com/office/2006/metadata/properties/metaAttributes"/>
    <ds:schemaRef ds:uri="http://www.w3.org/2000/xmlns/"/>
    <ds:schemaRef ds:uri="http://www.w3.org/2001/XMLSchema"/>
    <ds:schemaRef ds:uri="6d2b149d-cbe6-4f4f-8d0f-70c235703237"/>
  </ds:schemaRefs>
</ds:datastoreItem>
</file>

<file path=docProps/app.xml><?xml version="1.0" encoding="utf-8"?>
<Properties xmlns="http://schemas.openxmlformats.org/officeDocument/2006/extended-properties" xmlns:vt="http://schemas.openxmlformats.org/officeDocument/2006/docPropsVTypes">
  <Template>PPT TMPLT.potx</Template>
  <TotalTime>2765</TotalTime>
  <Words>2316</Words>
  <Application>Microsoft Office PowerPoint</Application>
  <PresentationFormat>Widescreen</PresentationFormat>
  <Paragraphs>333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Maryam Khaled Mohamed Ebrahim Busaad</dc:creator>
  <cp:lastModifiedBy>NV20148 - Sayed Jaafar Husain</cp:lastModifiedBy>
  <cp:revision>387</cp:revision>
  <dcterms:created xsi:type="dcterms:W3CDTF">2020-03-04T10:47:58Z</dcterms:created>
  <dcterms:modified xsi:type="dcterms:W3CDTF">2022-03-22T13:57:34Z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0x010100EDB7540F006FBA4F812F8898FE3CA1B4</vt:lpwstr>
  </property>
</Properties>
</file>